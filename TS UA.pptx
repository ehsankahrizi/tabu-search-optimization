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6" r:id="rId1"/>
  </p:sldMasterIdLst>
  <p:notesMasterIdLst>
    <p:notesMasterId r:id="rId18"/>
  </p:notesMasterIdLst>
  <p:sldIdLst>
    <p:sldId id="347" r:id="rId2"/>
    <p:sldId id="335" r:id="rId3"/>
    <p:sldId id="376" r:id="rId4"/>
    <p:sldId id="343" r:id="rId5"/>
    <p:sldId id="336" r:id="rId6"/>
    <p:sldId id="344" r:id="rId7"/>
    <p:sldId id="350" r:id="rId8"/>
    <p:sldId id="351" r:id="rId9"/>
    <p:sldId id="354" r:id="rId10"/>
    <p:sldId id="355" r:id="rId11"/>
    <p:sldId id="352" r:id="rId12"/>
    <p:sldId id="372" r:id="rId13"/>
    <p:sldId id="373" r:id="rId14"/>
    <p:sldId id="374" r:id="rId15"/>
    <p:sldId id="353" r:id="rId16"/>
    <p:sldId id="375" r:id="rId17"/>
  </p:sldIdLst>
  <p:sldSz cx="9144000" cy="6858000" type="screen4x3"/>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5A1E"/>
    <a:srgbClr val="041C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102" autoAdjust="0"/>
    <p:restoredTop sz="94660"/>
  </p:normalViewPr>
  <p:slideViewPr>
    <p:cSldViewPr>
      <p:cViewPr varScale="1">
        <p:scale>
          <a:sx n="127" d="100"/>
          <a:sy n="127" d="100"/>
        </p:scale>
        <p:origin x="1464"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hsan Kahrizi" userId="6dac68ac-bfca-42dd-ba1d-6d5caf2d5708" providerId="ADAL" clId="{5CB2421A-1E6D-5FF0-A0AB-5B537F97C5C8}"/>
    <pc:docChg chg="undo custSel addSld delSld">
      <pc:chgData name="Ehsan Kahrizi" userId="6dac68ac-bfca-42dd-ba1d-6d5caf2d5708" providerId="ADAL" clId="{5CB2421A-1E6D-5FF0-A0AB-5B537F97C5C8}" dt="2026-03-13T20:55:16.245" v="1" actId="680"/>
      <pc:docMkLst>
        <pc:docMk/>
      </pc:docMkLst>
      <pc:sldChg chg="new del">
        <pc:chgData name="Ehsan Kahrizi" userId="6dac68ac-bfca-42dd-ba1d-6d5caf2d5708" providerId="ADAL" clId="{5CB2421A-1E6D-5FF0-A0AB-5B537F97C5C8}" dt="2026-03-13T20:55:16.245" v="1" actId="680"/>
        <pc:sldMkLst>
          <pc:docMk/>
          <pc:sldMk cId="4215747760" sldId="3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804"/>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1804"/>
          </a:xfrm>
          <a:prstGeom prst="rect">
            <a:avLst/>
          </a:prstGeom>
        </p:spPr>
        <p:txBody>
          <a:bodyPr vert="horz" lIns="92830" tIns="46415" rIns="92830" bIns="46415" rtlCol="0"/>
          <a:lstStyle>
            <a:lvl1pPr algn="r">
              <a:defRPr sz="1200"/>
            </a:lvl1pPr>
          </a:lstStyle>
          <a:p>
            <a:fld id="{D4E5B190-D0E3-4802-9D09-FFCADC785F16}" type="datetimeFigureOut">
              <a:rPr lang="en-US" smtClean="0"/>
              <a:t>3/13/26</a:t>
            </a:fld>
            <a:endParaRPr lang="en-US"/>
          </a:p>
        </p:txBody>
      </p:sp>
      <p:sp>
        <p:nvSpPr>
          <p:cNvPr id="4" name="Slide Image Placeholder 3"/>
          <p:cNvSpPr>
            <a:spLocks noGrp="1" noRot="1" noChangeAspect="1"/>
          </p:cNvSpPr>
          <p:nvPr>
            <p:ph type="sldImg" idx="2"/>
          </p:nvPr>
        </p:nvSpPr>
        <p:spPr>
          <a:xfrm>
            <a:off x="1195388" y="692150"/>
            <a:ext cx="4619625" cy="3463925"/>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387136"/>
            <a:ext cx="5608320" cy="4156234"/>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37840" cy="461804"/>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8"/>
            <a:ext cx="3037840" cy="461804"/>
          </a:xfrm>
          <a:prstGeom prst="rect">
            <a:avLst/>
          </a:prstGeom>
        </p:spPr>
        <p:txBody>
          <a:bodyPr vert="horz" lIns="92830" tIns="46415" rIns="92830" bIns="46415" rtlCol="0" anchor="b"/>
          <a:lstStyle>
            <a:lvl1pPr algn="r">
              <a:defRPr sz="1200"/>
            </a:lvl1pPr>
          </a:lstStyle>
          <a:p>
            <a:fld id="{D23C571C-4129-4C2B-AF64-C3C5E18C8EE2}" type="slidenum">
              <a:rPr lang="en-US" smtClean="0"/>
              <a:t>‹#›</a:t>
            </a:fld>
            <a:endParaRPr lang="en-US"/>
          </a:p>
        </p:txBody>
      </p:sp>
    </p:spTree>
    <p:extLst>
      <p:ext uri="{BB962C8B-B14F-4D97-AF65-F5344CB8AC3E}">
        <p14:creationId xmlns:p14="http://schemas.microsoft.com/office/powerpoint/2010/main" val="1954854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65B0064-5EA8-13FE-2FBD-BA96173C8F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1500" y="-14941"/>
            <a:ext cx="10287000" cy="6858000"/>
          </a:xfrm>
          <a:prstGeom prst="rect">
            <a:avLst/>
          </a:prstGeom>
        </p:spPr>
      </p:pic>
      <p:sp>
        <p:nvSpPr>
          <p:cNvPr id="3" name="Title Placeholder 1">
            <a:extLst>
              <a:ext uri="{FF2B5EF4-FFF2-40B4-BE49-F238E27FC236}">
                <a16:creationId xmlns:a16="http://schemas.microsoft.com/office/drawing/2014/main" id="{F55E74E5-8FEC-6E52-FA47-BBB9D8FCC515}"/>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4" name="Text Placeholder 2">
            <a:extLst>
              <a:ext uri="{FF2B5EF4-FFF2-40B4-BE49-F238E27FC236}">
                <a16:creationId xmlns:a16="http://schemas.microsoft.com/office/drawing/2014/main" id="{03E444D0-062E-DAE2-2A33-969CDDAEBDFB}"/>
              </a:ext>
            </a:extLst>
          </p:cNvPr>
          <p:cNvSpPr>
            <a:spLocks noGrp="1"/>
          </p:cNvSpPr>
          <p:nvPr>
            <p:ph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ounded Rectangle 15">
            <a:extLst>
              <a:ext uri="{FF2B5EF4-FFF2-40B4-BE49-F238E27FC236}">
                <a16:creationId xmlns:a16="http://schemas.microsoft.com/office/drawing/2014/main" id="{F4AC7A0B-C923-BD91-DFA2-5A065F4605F6}"/>
              </a:ext>
            </a:extLst>
          </p:cNvPr>
          <p:cNvSpPr/>
          <p:nvPr userDrawn="1"/>
        </p:nvSpPr>
        <p:spPr>
          <a:xfrm>
            <a:off x="-252248" y="5016916"/>
            <a:ext cx="9648497" cy="1362297"/>
          </a:xfrm>
          <a:prstGeom prst="round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0D3E4C2-4424-1C6D-40BF-6BC008D3BB3A}"/>
              </a:ext>
            </a:extLst>
          </p:cNvPr>
          <p:cNvSpPr txBox="1"/>
          <p:nvPr userDrawn="1"/>
        </p:nvSpPr>
        <p:spPr>
          <a:xfrm>
            <a:off x="798391" y="5559093"/>
            <a:ext cx="7547217" cy="646331"/>
          </a:xfrm>
          <a:prstGeom prst="rect">
            <a:avLst/>
          </a:prstGeom>
          <a:noFill/>
        </p:spPr>
        <p:txBody>
          <a:bodyPr wrap="square" rtlCol="0" anchor="ctr">
            <a:spAutoFit/>
          </a:bodyPr>
          <a:lstStyle/>
          <a:p>
            <a:pPr algn="ctr"/>
            <a:r>
              <a:rPr lang="en-US" sz="3600" b="1" dirty="0">
                <a:solidFill>
                  <a:schemeClr val="bg2">
                    <a:lumMod val="25000"/>
                  </a:schemeClr>
                </a:solidFill>
                <a:latin typeface="Verdana" panose="020B0604030504040204" pitchFamily="34" charset="0"/>
                <a:ea typeface="Verdana" panose="020B0604030504040204" pitchFamily="34" charset="0"/>
                <a:cs typeface="Verdana" panose="020B0604030504040204" pitchFamily="34" charset="0"/>
              </a:rPr>
              <a:t>Intelligent Optimization</a:t>
            </a:r>
            <a:endParaRPr lang="en-US" sz="3600" dirty="0">
              <a:solidFill>
                <a:schemeClr val="bg2">
                  <a:lumMod val="25000"/>
                </a:schemeClr>
              </a:solidFill>
            </a:endParaRPr>
          </a:p>
        </p:txBody>
      </p:sp>
      <p:pic>
        <p:nvPicPr>
          <p:cNvPr id="22" name="Picture 21" descr="A picture containing text, sign&#10;&#10;Description automatically generated">
            <a:extLst>
              <a:ext uri="{FF2B5EF4-FFF2-40B4-BE49-F238E27FC236}">
                <a16:creationId xmlns:a16="http://schemas.microsoft.com/office/drawing/2014/main" id="{37116EEB-D1A2-668F-733F-19BFA1D30575}"/>
              </a:ext>
            </a:extLst>
          </p:cNvPr>
          <p:cNvPicPr>
            <a:picLocks noChangeAspect="1"/>
          </p:cNvPicPr>
          <p:nvPr userDrawn="1"/>
        </p:nvPicPr>
        <p:blipFill>
          <a:blip r:embed="rId3"/>
          <a:stretch>
            <a:fillRect/>
          </a:stretch>
        </p:blipFill>
        <p:spPr>
          <a:xfrm>
            <a:off x="4089596" y="4499693"/>
            <a:ext cx="964808" cy="964808"/>
          </a:xfrm>
          <a:prstGeom prst="rect">
            <a:avLst/>
          </a:prstGeom>
        </p:spPr>
      </p:pic>
      <p:pic>
        <p:nvPicPr>
          <p:cNvPr id="23" name="Picture 22">
            <a:extLst>
              <a:ext uri="{FF2B5EF4-FFF2-40B4-BE49-F238E27FC236}">
                <a16:creationId xmlns:a16="http://schemas.microsoft.com/office/drawing/2014/main" id="{14C537EF-C631-17CD-5B78-FC8F8BDE8762}"/>
              </a:ext>
            </a:extLst>
          </p:cNvPr>
          <p:cNvPicPr>
            <a:picLocks noChangeAspect="1"/>
          </p:cNvPicPr>
          <p:nvPr userDrawn="1"/>
        </p:nvPicPr>
        <p:blipFill>
          <a:blip r:embed="rId4"/>
          <a:stretch>
            <a:fillRect/>
          </a:stretch>
        </p:blipFill>
        <p:spPr>
          <a:xfrm>
            <a:off x="2753360" y="6438988"/>
            <a:ext cx="3637280" cy="182880"/>
          </a:xfrm>
          <a:prstGeom prst="rect">
            <a:avLst/>
          </a:prstGeom>
        </p:spPr>
      </p:pic>
    </p:spTree>
    <p:extLst>
      <p:ext uri="{BB962C8B-B14F-4D97-AF65-F5344CB8AC3E}">
        <p14:creationId xmlns:p14="http://schemas.microsoft.com/office/powerpoint/2010/main" val="43001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7916" y="172464"/>
            <a:ext cx="8717282" cy="678970"/>
          </a:xfrm>
          <a:prstGeom prst="rect">
            <a:avLst/>
          </a:prstGeom>
        </p:spPr>
        <p:txBody>
          <a:bodyPr>
            <a:normAutofit/>
          </a:bodyPr>
          <a:lstStyle>
            <a:lvl1pPr>
              <a:defRPr sz="3500">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207915" y="1514741"/>
            <a:ext cx="8717281" cy="5076559"/>
          </a:xfrm>
          <a:prstGeom prst="rect">
            <a:avLst/>
          </a:prstGeom>
        </p:spPr>
        <p:txBody>
          <a:bodyPr/>
          <a:lstStyle>
            <a:lvl1pPr>
              <a:defRPr sz="3000"/>
            </a:lvl1pPr>
            <a:lvl2pPr>
              <a:defRPr sz="25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2047"/>
          <p:cNvSpPr>
            <a:spLocks noGrp="1"/>
          </p:cNvSpPr>
          <p:nvPr>
            <p:ph type="sldNum" sz="quarter" idx="4"/>
          </p:nvPr>
        </p:nvSpPr>
        <p:spPr>
          <a:xfrm>
            <a:off x="8925197" y="1266572"/>
            <a:ext cx="218802" cy="248169"/>
          </a:xfrm>
          <a:prstGeom prst="rect">
            <a:avLst/>
          </a:prstGeom>
        </p:spPr>
        <p:txBody>
          <a:bodyPr vert="horz" lIns="0" tIns="0" rIns="0" bIns="0" rtlCol="0" anchor="ctr"/>
          <a:lstStyle>
            <a:lvl1pPr algn="ctr">
              <a:defRPr sz="1000" b="1">
                <a:solidFill>
                  <a:schemeClr val="bg1"/>
                </a:solidFill>
              </a:defRPr>
            </a:lvl1pPr>
          </a:lstStyle>
          <a:p>
            <a:fld id="{66BC9748-77DE-4B3F-9E9D-056C7D4141BB}" type="slidenum">
              <a:rPr lang="en-US" smtClean="0"/>
              <a:t>‹#›</a:t>
            </a:fld>
            <a:endParaRPr lang="en-US"/>
          </a:p>
        </p:txBody>
      </p:sp>
    </p:spTree>
    <p:extLst>
      <p:ext uri="{BB962C8B-B14F-4D97-AF65-F5344CB8AC3E}">
        <p14:creationId xmlns:p14="http://schemas.microsoft.com/office/powerpoint/2010/main" val="560687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07916" y="172464"/>
            <a:ext cx="8717282" cy="678970"/>
          </a:xfrm>
          <a:prstGeom prst="rect">
            <a:avLst/>
          </a:prstGeom>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sz="half" idx="1"/>
          </p:nvPr>
        </p:nvSpPr>
        <p:spPr>
          <a:xfrm>
            <a:off x="207916" y="1514741"/>
            <a:ext cx="4287884" cy="5057510"/>
          </a:xfrm>
          <a:prstGeom prst="rect">
            <a:avLst/>
          </a:prstGeom>
        </p:spPr>
        <p:txBody>
          <a:bodyPr/>
          <a:lstStyle>
            <a:lvl1pPr>
              <a:defRPr sz="25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199" y="1514741"/>
            <a:ext cx="4276997" cy="5057510"/>
          </a:xfrm>
          <a:prstGeom prst="rect">
            <a:avLst/>
          </a:prstGeom>
        </p:spPr>
        <p:txBody>
          <a:bodyPr/>
          <a:lstStyle>
            <a:lvl1pPr>
              <a:defRPr sz="25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2047"/>
          <p:cNvSpPr>
            <a:spLocks noGrp="1"/>
          </p:cNvSpPr>
          <p:nvPr>
            <p:ph type="sldNum" sz="quarter" idx="4"/>
          </p:nvPr>
        </p:nvSpPr>
        <p:spPr>
          <a:xfrm>
            <a:off x="8925197" y="1266572"/>
            <a:ext cx="218802" cy="248169"/>
          </a:xfrm>
          <a:prstGeom prst="rect">
            <a:avLst/>
          </a:prstGeom>
        </p:spPr>
        <p:txBody>
          <a:bodyPr vert="horz" lIns="0" tIns="0" rIns="0" bIns="0" rtlCol="0" anchor="ctr"/>
          <a:lstStyle>
            <a:lvl1pPr algn="ctr">
              <a:defRPr sz="1000" b="1">
                <a:solidFill>
                  <a:schemeClr val="bg1"/>
                </a:solidFill>
              </a:defRPr>
            </a:lvl1pPr>
          </a:lstStyle>
          <a:p>
            <a:fld id="{66BC9748-77DE-4B3F-9E9D-056C7D4141BB}" type="slidenum">
              <a:rPr lang="en-US" smtClean="0"/>
              <a:t>‹#›</a:t>
            </a:fld>
            <a:endParaRPr lang="en-US"/>
          </a:p>
        </p:txBody>
      </p:sp>
    </p:spTree>
    <p:extLst>
      <p:ext uri="{BB962C8B-B14F-4D97-AF65-F5344CB8AC3E}">
        <p14:creationId xmlns:p14="http://schemas.microsoft.com/office/powerpoint/2010/main" val="3516818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Divider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1668629"/>
            <a:ext cx="7772400" cy="1470025"/>
          </a:xfrm>
          <a:prstGeom prst="rect">
            <a:avLst/>
          </a:prstGeom>
        </p:spPr>
        <p:txBody>
          <a:bodyPr/>
          <a:lstStyle>
            <a:lvl1pPr algn="ctr">
              <a:defRPr baseline="0">
                <a:solidFill>
                  <a:schemeClr val="tx1"/>
                </a:solidFill>
              </a:defRPr>
            </a:lvl1pPr>
          </a:lstStyle>
          <a:p>
            <a:r>
              <a:rPr lang="en-US" dirty="0"/>
              <a:t>Section Divider Slide</a:t>
            </a:r>
          </a:p>
        </p:txBody>
      </p:sp>
      <p:sp>
        <p:nvSpPr>
          <p:cNvPr id="3" name="Subtitle 2"/>
          <p:cNvSpPr>
            <a:spLocks noGrp="1"/>
          </p:cNvSpPr>
          <p:nvPr>
            <p:ph type="subTitle" idx="1"/>
          </p:nvPr>
        </p:nvSpPr>
        <p:spPr>
          <a:xfrm>
            <a:off x="1371600" y="3424404"/>
            <a:ext cx="6400800" cy="1752600"/>
          </a:xfrm>
          <a:prstGeom prst="rect">
            <a:avLst/>
          </a:prstGeom>
        </p:spPr>
        <p:txBody>
          <a:bodyPr/>
          <a:lstStyle>
            <a:lvl1pPr marL="0" indent="0" algn="ctr">
              <a:buNone/>
              <a:defRPr sz="3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Slide Number Placeholder 2047"/>
          <p:cNvSpPr>
            <a:spLocks noGrp="1"/>
          </p:cNvSpPr>
          <p:nvPr>
            <p:ph type="sldNum" sz="quarter" idx="4"/>
          </p:nvPr>
        </p:nvSpPr>
        <p:spPr>
          <a:xfrm>
            <a:off x="8925197" y="1266572"/>
            <a:ext cx="218802" cy="248169"/>
          </a:xfrm>
          <a:prstGeom prst="rect">
            <a:avLst/>
          </a:prstGeom>
        </p:spPr>
        <p:txBody>
          <a:bodyPr vert="horz" lIns="0" tIns="0" rIns="0" bIns="0" rtlCol="0" anchor="ctr"/>
          <a:lstStyle>
            <a:lvl1pPr algn="ctr">
              <a:defRPr sz="1000" b="1">
                <a:solidFill>
                  <a:schemeClr val="bg1"/>
                </a:solidFill>
              </a:defRPr>
            </a:lvl1pPr>
          </a:lstStyle>
          <a:p>
            <a:fld id="{66BC9748-77DE-4B3F-9E9D-056C7D4141BB}" type="slidenum">
              <a:rPr lang="en-US" smtClean="0"/>
              <a:t>‹#›</a:t>
            </a:fld>
            <a:endParaRPr lang="en-US"/>
          </a:p>
        </p:txBody>
      </p:sp>
    </p:spTree>
    <p:extLst>
      <p:ext uri="{BB962C8B-B14F-4D97-AF65-F5344CB8AC3E}">
        <p14:creationId xmlns:p14="http://schemas.microsoft.com/office/powerpoint/2010/main" val="301895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Header Only">
    <p:spTree>
      <p:nvGrpSpPr>
        <p:cNvPr id="1" name=""/>
        <p:cNvGrpSpPr/>
        <p:nvPr/>
      </p:nvGrpSpPr>
      <p:grpSpPr>
        <a:xfrm>
          <a:off x="0" y="0"/>
          <a:ext cx="0" cy="0"/>
          <a:chOff x="0" y="0"/>
          <a:chExt cx="0" cy="0"/>
        </a:xfrm>
      </p:grpSpPr>
      <p:sp>
        <p:nvSpPr>
          <p:cNvPr id="2" name="Title 1"/>
          <p:cNvSpPr>
            <a:spLocks noGrp="1"/>
          </p:cNvSpPr>
          <p:nvPr>
            <p:ph type="title"/>
          </p:nvPr>
        </p:nvSpPr>
        <p:spPr>
          <a:xfrm>
            <a:off x="207916" y="172464"/>
            <a:ext cx="8717282" cy="678970"/>
          </a:xfrm>
          <a:prstGeom prst="rect">
            <a:avLst/>
          </a:prstGeom>
        </p:spPr>
        <p:txBody>
          <a:bodyPr/>
          <a:lstStyle>
            <a:lvl1pPr>
              <a:defRPr>
                <a:solidFill>
                  <a:schemeClr val="tx1"/>
                </a:solidFill>
              </a:defRPr>
            </a:lvl1pPr>
          </a:lstStyle>
          <a:p>
            <a:r>
              <a:rPr lang="en-US" dirty="0"/>
              <a:t>Click to edit Master title style</a:t>
            </a:r>
          </a:p>
        </p:txBody>
      </p:sp>
      <p:sp>
        <p:nvSpPr>
          <p:cNvPr id="3" name="Slide Number Placeholder 2047"/>
          <p:cNvSpPr>
            <a:spLocks noGrp="1"/>
          </p:cNvSpPr>
          <p:nvPr>
            <p:ph type="sldNum" sz="quarter" idx="4"/>
          </p:nvPr>
        </p:nvSpPr>
        <p:spPr>
          <a:xfrm>
            <a:off x="8925197" y="1266572"/>
            <a:ext cx="218802" cy="248169"/>
          </a:xfrm>
          <a:prstGeom prst="rect">
            <a:avLst/>
          </a:prstGeom>
        </p:spPr>
        <p:txBody>
          <a:bodyPr vert="horz" lIns="0" tIns="0" rIns="0" bIns="0" rtlCol="0" anchor="ctr"/>
          <a:lstStyle>
            <a:lvl1pPr algn="ctr">
              <a:defRPr sz="1000" b="1">
                <a:solidFill>
                  <a:schemeClr val="bg1"/>
                </a:solidFill>
              </a:defRPr>
            </a:lvl1pPr>
          </a:lstStyle>
          <a:p>
            <a:fld id="{66BC9748-77DE-4B3F-9E9D-056C7D4141BB}" type="slidenum">
              <a:rPr lang="en-US" smtClean="0"/>
              <a:t>‹#›</a:t>
            </a:fld>
            <a:endParaRPr lang="en-US"/>
          </a:p>
        </p:txBody>
      </p:sp>
    </p:spTree>
    <p:extLst>
      <p:ext uri="{BB962C8B-B14F-4D97-AF65-F5344CB8AC3E}">
        <p14:creationId xmlns:p14="http://schemas.microsoft.com/office/powerpoint/2010/main" val="480735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07916" y="1514742"/>
            <a:ext cx="8717281" cy="479080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07915" y="6334309"/>
            <a:ext cx="8717281" cy="316791"/>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Title 1"/>
          <p:cNvSpPr>
            <a:spLocks noGrp="1"/>
          </p:cNvSpPr>
          <p:nvPr>
            <p:ph type="title"/>
          </p:nvPr>
        </p:nvSpPr>
        <p:spPr>
          <a:xfrm>
            <a:off x="207916" y="172464"/>
            <a:ext cx="8717282" cy="678970"/>
          </a:xfrm>
          <a:prstGeom prst="rect">
            <a:avLst/>
          </a:prstGeom>
        </p:spPr>
        <p:txBody>
          <a:bodyPr/>
          <a:lstStyle>
            <a:lvl1pPr>
              <a:defRPr>
                <a:solidFill>
                  <a:schemeClr val="tx1"/>
                </a:solidFill>
              </a:defRPr>
            </a:lvl1pPr>
          </a:lstStyle>
          <a:p>
            <a:r>
              <a:rPr lang="en-US" dirty="0"/>
              <a:t>Click to edit Master title style</a:t>
            </a:r>
          </a:p>
        </p:txBody>
      </p:sp>
      <p:sp>
        <p:nvSpPr>
          <p:cNvPr id="7" name="Slide Number Placeholder 2047"/>
          <p:cNvSpPr>
            <a:spLocks noGrp="1"/>
          </p:cNvSpPr>
          <p:nvPr>
            <p:ph type="sldNum" sz="quarter" idx="4"/>
          </p:nvPr>
        </p:nvSpPr>
        <p:spPr>
          <a:xfrm>
            <a:off x="8925197" y="1266572"/>
            <a:ext cx="218802" cy="248169"/>
          </a:xfrm>
          <a:prstGeom prst="rect">
            <a:avLst/>
          </a:prstGeom>
        </p:spPr>
        <p:txBody>
          <a:bodyPr vert="horz" lIns="0" tIns="0" rIns="0" bIns="0" rtlCol="0" anchor="ctr"/>
          <a:lstStyle>
            <a:lvl1pPr algn="ctr">
              <a:defRPr sz="1000" b="1">
                <a:solidFill>
                  <a:schemeClr val="bg1"/>
                </a:solidFill>
              </a:defRPr>
            </a:lvl1pPr>
          </a:lstStyle>
          <a:p>
            <a:fld id="{66BC9748-77DE-4B3F-9E9D-056C7D4141BB}" type="slidenum">
              <a:rPr lang="en-US" smtClean="0"/>
              <a:t>‹#›</a:t>
            </a:fld>
            <a:endParaRPr lang="en-US"/>
          </a:p>
        </p:txBody>
      </p:sp>
    </p:spTree>
    <p:extLst>
      <p:ext uri="{BB962C8B-B14F-4D97-AF65-F5344CB8AC3E}">
        <p14:creationId xmlns:p14="http://schemas.microsoft.com/office/powerpoint/2010/main" val="471551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76B7B090-6408-7480-D43A-C9FDD4BB578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4" name="Text Placeholder 2">
            <a:extLst>
              <a:ext uri="{FF2B5EF4-FFF2-40B4-BE49-F238E27FC236}">
                <a16:creationId xmlns:a16="http://schemas.microsoft.com/office/drawing/2014/main" id="{26F0F3EF-C0D3-9F35-F9F2-FB2BCBA3A00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C7BDA8EB-1705-F362-7DDF-B6DFE051C80D}"/>
              </a:ext>
            </a:extLst>
          </p:cNvPr>
          <p:cNvSpPr/>
          <p:nvPr userDrawn="1"/>
        </p:nvSpPr>
        <p:spPr>
          <a:xfrm>
            <a:off x="-198783" y="6327595"/>
            <a:ext cx="9780104" cy="337930"/>
          </a:xfrm>
          <a:prstGeom prst="rect">
            <a:avLst/>
          </a:prstGeom>
          <a:solidFill>
            <a:srgbClr val="A3203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7904E268-E152-1540-135F-EF4DF7E0481F}"/>
              </a:ext>
            </a:extLst>
          </p:cNvPr>
          <p:cNvSpPr txBox="1"/>
          <p:nvPr userDrawn="1"/>
        </p:nvSpPr>
        <p:spPr>
          <a:xfrm>
            <a:off x="628650" y="6357412"/>
            <a:ext cx="4476750" cy="276999"/>
          </a:xfrm>
          <a:prstGeom prst="rect">
            <a:avLst/>
          </a:prstGeom>
          <a:noFill/>
        </p:spPr>
        <p:txBody>
          <a:bodyPr wrap="square" rtlCol="0">
            <a:spAutoFit/>
          </a:bodyPr>
          <a:lstStyle/>
          <a:p>
            <a:pPr algn="l"/>
            <a:r>
              <a:rPr lang="en-US" sz="1200" i="1" dirty="0">
                <a:solidFill>
                  <a:schemeClr val="bg1"/>
                </a:solidFill>
                <a:latin typeface="Verdana" panose="020B0604030504040204" pitchFamily="34" charset="0"/>
                <a:ea typeface="Verdana" panose="020B0604030504040204" pitchFamily="34" charset="0"/>
                <a:cs typeface="Verdana" panose="020B0604030504040204" pitchFamily="34" charset="0"/>
              </a:rPr>
              <a:t>/// Intelligent Optimization – Tabu Search///</a:t>
            </a:r>
          </a:p>
        </p:txBody>
      </p:sp>
      <p:pic>
        <p:nvPicPr>
          <p:cNvPr id="8" name="Picture 7">
            <a:extLst>
              <a:ext uri="{FF2B5EF4-FFF2-40B4-BE49-F238E27FC236}">
                <a16:creationId xmlns:a16="http://schemas.microsoft.com/office/drawing/2014/main" id="{7D7711B3-42B0-0225-49B4-56ABC2BF08CE}"/>
              </a:ext>
            </a:extLst>
          </p:cNvPr>
          <p:cNvPicPr>
            <a:picLocks noChangeAspect="1"/>
          </p:cNvPicPr>
          <p:nvPr userDrawn="1"/>
        </p:nvPicPr>
        <p:blipFill>
          <a:blip r:embed="rId8"/>
          <a:stretch>
            <a:fillRect/>
          </a:stretch>
        </p:blipFill>
        <p:spPr>
          <a:xfrm>
            <a:off x="7442435" y="124906"/>
            <a:ext cx="1493649" cy="1493649"/>
          </a:xfrm>
          <a:prstGeom prst="rect">
            <a:avLst/>
          </a:prstGeom>
        </p:spPr>
      </p:pic>
    </p:spTree>
    <p:extLst>
      <p:ext uri="{BB962C8B-B14F-4D97-AF65-F5344CB8AC3E}">
        <p14:creationId xmlns:p14="http://schemas.microsoft.com/office/powerpoint/2010/main" val="1023509847"/>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Lst>
  <p:hf hdr="0" ftr="0" dt="0"/>
  <p:txStyles>
    <p:titleStyle>
      <a:lvl1pPr algn="l" defTabSz="457200" rtl="0" eaLnBrk="1" latinLnBrk="0" hangingPunct="1">
        <a:spcBef>
          <a:spcPct val="0"/>
        </a:spcBef>
        <a:buNone/>
        <a:defRPr sz="3500" b="1" kern="1200">
          <a:solidFill>
            <a:schemeClr val="tx1"/>
          </a:solidFill>
          <a:latin typeface="Calibri"/>
          <a:ea typeface="+mj-ea"/>
          <a:cs typeface="Calibri"/>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bzEyAmL2JyY" TargetMode="External"/><Relationship Id="rId2" Type="http://schemas.openxmlformats.org/officeDocument/2006/relationships/hyperlink" Target="http://www.bionik.tu-berlin.de/institut/xstart.htm" TargetMode="External"/><Relationship Id="rId1" Type="http://schemas.openxmlformats.org/officeDocument/2006/relationships/slideLayout" Target="../slideLayouts/slideLayout2.xml"/><Relationship Id="rId5" Type="http://schemas.openxmlformats.org/officeDocument/2006/relationships/hyperlink" Target="https://www.geeksforgeeks.org/what-is-tabu-search/" TargetMode="External"/><Relationship Id="rId4" Type="http://schemas.openxmlformats.org/officeDocument/2006/relationships/hyperlink" Target="https://www.youtube.com/watch?v=-k859txmZg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1A65D-D46D-698E-F502-9AB0EE9E43B4}"/>
              </a:ext>
            </a:extLst>
          </p:cNvPr>
          <p:cNvSpPr>
            <a:spLocks noGrp="1"/>
          </p:cNvSpPr>
          <p:nvPr>
            <p:ph type="title"/>
          </p:nvPr>
        </p:nvSpPr>
        <p:spPr/>
        <p:txBody>
          <a:bodyPr>
            <a:normAutofit/>
          </a:bodyPr>
          <a:lstStyle/>
          <a:p>
            <a:r>
              <a:rPr lang="en-US" sz="6000" dirty="0">
                <a:solidFill>
                  <a:schemeClr val="bg1"/>
                </a:solidFill>
              </a:rPr>
              <a:t>Tabu Search</a:t>
            </a:r>
          </a:p>
        </p:txBody>
      </p:sp>
      <p:sp>
        <p:nvSpPr>
          <p:cNvPr id="3" name="Content Placeholder 2">
            <a:extLst>
              <a:ext uri="{FF2B5EF4-FFF2-40B4-BE49-F238E27FC236}">
                <a16:creationId xmlns:a16="http://schemas.microsoft.com/office/drawing/2014/main" id="{A5E608FB-60BE-BBFC-F61F-914DEC0F308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55284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4" name="Slide Number Placeholder 3"/>
          <p:cNvSpPr>
            <a:spLocks noGrp="1"/>
          </p:cNvSpPr>
          <p:nvPr>
            <p:ph type="sldNum" sz="quarter" idx="4"/>
          </p:nvPr>
        </p:nvSpPr>
        <p:spPr/>
        <p:txBody>
          <a:bodyPr/>
          <a:lstStyle/>
          <a:p>
            <a:fld id="{66BC9748-77DE-4B3F-9E9D-056C7D4141BB}" type="slidenum">
              <a:rPr lang="en-US" smtClean="0"/>
              <a:t>2</a:t>
            </a:fld>
            <a:endParaRPr lang="en-US"/>
          </a:p>
        </p:txBody>
      </p:sp>
      <p:sp>
        <p:nvSpPr>
          <p:cNvPr id="6" name="Content Placeholder 5"/>
          <p:cNvSpPr>
            <a:spLocks noGrp="1"/>
          </p:cNvSpPr>
          <p:nvPr>
            <p:ph idx="1"/>
          </p:nvPr>
        </p:nvSpPr>
        <p:spPr/>
        <p:txBody>
          <a:bodyPr/>
          <a:lstStyle/>
          <a:p>
            <a:pPr marL="0" indent="0">
              <a:buNone/>
            </a:pPr>
            <a:r>
              <a:rPr lang="en-US" sz="2800" b="1" dirty="0">
                <a:solidFill>
                  <a:srgbClr val="FF0000"/>
                </a:solidFill>
              </a:rPr>
              <a:t>History</a:t>
            </a:r>
            <a:endParaRPr lang="en-US" b="1" dirty="0">
              <a:solidFill>
                <a:srgbClr val="FF0000"/>
              </a:solidFill>
            </a:endParaRPr>
          </a:p>
          <a:p>
            <a:r>
              <a:rPr lang="en-US" sz="2400" dirty="0"/>
              <a:t>Developed by Fred Glover in the 1970’s</a:t>
            </a:r>
          </a:p>
          <a:p>
            <a:r>
              <a:rPr lang="en-US" sz="2400" dirty="0"/>
              <a:t>Dr. Glover is now a retired business professor from University of Colorado at Boulder  </a:t>
            </a:r>
          </a:p>
          <a:p>
            <a:r>
              <a:rPr lang="en-US" sz="2400" dirty="0"/>
              <a:t>Developed specifically as a combinatorial optimization tool</a:t>
            </a:r>
          </a:p>
          <a:p>
            <a:pPr marL="0" indent="0">
              <a:buNone/>
            </a:pPr>
            <a:endParaRPr lang="en-US" sz="3200" b="1" dirty="0">
              <a:solidFill>
                <a:srgbClr val="FF0000"/>
              </a:solidFill>
            </a:endParaRPr>
          </a:p>
          <a:p>
            <a:pPr marL="0" indent="0">
              <a:buNone/>
            </a:pPr>
            <a:r>
              <a:rPr lang="en-US" sz="2800" b="1" dirty="0">
                <a:solidFill>
                  <a:srgbClr val="FF0000"/>
                </a:solidFill>
              </a:rPr>
              <a:t>Summary</a:t>
            </a:r>
          </a:p>
          <a:p>
            <a:r>
              <a:rPr lang="en-US" sz="2400" dirty="0"/>
              <a:t>Biological inspiration is “memory” – the ability to use past experiences to improve current decision making  </a:t>
            </a:r>
          </a:p>
          <a:p>
            <a:pPr marL="0" indent="0">
              <a:buNone/>
            </a:pPr>
            <a:endParaRPr lang="en-US" sz="2400" dirty="0"/>
          </a:p>
          <a:p>
            <a:pPr marL="0" indent="0">
              <a:buNone/>
            </a:pPr>
            <a:endParaRPr lang="en-US" dirty="0"/>
          </a:p>
        </p:txBody>
      </p:sp>
    </p:spTree>
    <p:extLst>
      <p:ext uri="{BB962C8B-B14F-4D97-AF65-F5344CB8AC3E}">
        <p14:creationId xmlns:p14="http://schemas.microsoft.com/office/powerpoint/2010/main" val="2416173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DBCF2-25A4-161D-26F3-9D61B45C6D53}"/>
              </a:ext>
            </a:extLst>
          </p:cNvPr>
          <p:cNvSpPr>
            <a:spLocks noGrp="1"/>
          </p:cNvSpPr>
          <p:nvPr>
            <p:ph type="title"/>
          </p:nvPr>
        </p:nvSpPr>
        <p:spPr/>
        <p:txBody>
          <a:bodyPr/>
          <a:lstStyle/>
          <a:p>
            <a:r>
              <a:rPr lang="en-US" dirty="0"/>
              <a:t>More About Fred Glover</a:t>
            </a:r>
          </a:p>
        </p:txBody>
      </p:sp>
      <p:sp>
        <p:nvSpPr>
          <p:cNvPr id="3" name="Content Placeholder 2">
            <a:extLst>
              <a:ext uri="{FF2B5EF4-FFF2-40B4-BE49-F238E27FC236}">
                <a16:creationId xmlns:a16="http://schemas.microsoft.com/office/drawing/2014/main" id="{2FBA2B34-086C-EF03-9EAF-B79A134F9984}"/>
              </a:ext>
            </a:extLst>
          </p:cNvPr>
          <p:cNvSpPr>
            <a:spLocks noGrp="1"/>
          </p:cNvSpPr>
          <p:nvPr>
            <p:ph sz="half" idx="1"/>
          </p:nvPr>
        </p:nvSpPr>
        <p:spPr>
          <a:xfrm>
            <a:off x="238932" y="990600"/>
            <a:ext cx="4287884" cy="5057510"/>
          </a:xfrm>
        </p:spPr>
        <p:txBody>
          <a:bodyPr/>
          <a:lstStyle/>
          <a:p>
            <a:pPr marL="0" indent="0">
              <a:buNone/>
            </a:pPr>
            <a:r>
              <a:rPr lang="en-US" sz="2000" dirty="0"/>
              <a:t>Fred W. Glover (Operations Research and Mathematical Optimization): He is recognized for his innovations in metaheuristics, including the development of Tabu search and Scatter Search algorithms for optimization. Glover has authored or co-authored over 500 research publications. He is a recipient of the John von Neumann Theory Prize, the highest honor of the Institute for Operations Research and the Management Sciences (INFORMS). He is also an elected member of the U.S. National Academy of Engineering.</a:t>
            </a:r>
          </a:p>
        </p:txBody>
      </p:sp>
      <p:sp>
        <p:nvSpPr>
          <p:cNvPr id="4" name="Content Placeholder 3">
            <a:extLst>
              <a:ext uri="{FF2B5EF4-FFF2-40B4-BE49-F238E27FC236}">
                <a16:creationId xmlns:a16="http://schemas.microsoft.com/office/drawing/2014/main" id="{5DAB08D3-6ED6-C507-C6B7-C4ED4CFD56C8}"/>
              </a:ext>
            </a:extLst>
          </p:cNvPr>
          <p:cNvSpPr>
            <a:spLocks noGrp="1"/>
          </p:cNvSpPr>
          <p:nvPr>
            <p:ph sz="half" idx="2"/>
          </p:nvPr>
        </p:nvSpPr>
        <p:spPr>
          <a:xfrm>
            <a:off x="4648200" y="995718"/>
            <a:ext cx="4276997" cy="5057510"/>
          </a:xfrm>
        </p:spPr>
        <p:txBody>
          <a:bodyPr/>
          <a:lstStyle/>
          <a:p>
            <a:pPr marL="0" indent="0">
              <a:buNone/>
            </a:pPr>
            <a:r>
              <a:rPr lang="en-US" sz="2000" dirty="0"/>
              <a:t>Glover received his PhD in</a:t>
            </a:r>
            <a:br>
              <a:rPr lang="en-US" sz="2000" dirty="0"/>
            </a:br>
            <a:r>
              <a:rPr lang="en-US" sz="2000" dirty="0"/>
              <a:t>operations research in 1965 under Gerald L. Thompson and Herbert A. Simon from Carnegie Mellon University and served as a Post-doctoral Research Fellow at the University of California, Berkeley, in the Industrial Engineering &amp; Operations Research Department headed by George B. Dantzig in 1967. </a:t>
            </a:r>
          </a:p>
        </p:txBody>
      </p:sp>
      <p:sp>
        <p:nvSpPr>
          <p:cNvPr id="5" name="Slide Number Placeholder 4">
            <a:extLst>
              <a:ext uri="{FF2B5EF4-FFF2-40B4-BE49-F238E27FC236}">
                <a16:creationId xmlns:a16="http://schemas.microsoft.com/office/drawing/2014/main" id="{CD0051BA-934E-B0E2-B91A-96F37243C251}"/>
              </a:ext>
            </a:extLst>
          </p:cNvPr>
          <p:cNvSpPr>
            <a:spLocks noGrp="1"/>
          </p:cNvSpPr>
          <p:nvPr>
            <p:ph type="sldNum" sz="quarter" idx="4"/>
          </p:nvPr>
        </p:nvSpPr>
        <p:spPr/>
        <p:txBody>
          <a:bodyPr/>
          <a:lstStyle/>
          <a:p>
            <a:fld id="{66BC9748-77DE-4B3F-9E9D-056C7D4141BB}" type="slidenum">
              <a:rPr lang="en-US" smtClean="0"/>
              <a:t>3</a:t>
            </a:fld>
            <a:endParaRPr lang="en-US"/>
          </a:p>
        </p:txBody>
      </p:sp>
      <p:pic>
        <p:nvPicPr>
          <p:cNvPr id="6" name="Picture 5">
            <a:extLst>
              <a:ext uri="{FF2B5EF4-FFF2-40B4-BE49-F238E27FC236}">
                <a16:creationId xmlns:a16="http://schemas.microsoft.com/office/drawing/2014/main" id="{9C511BF2-E871-93E9-1717-C8DA631E9985}"/>
              </a:ext>
            </a:extLst>
          </p:cNvPr>
          <p:cNvPicPr>
            <a:picLocks noChangeAspect="1"/>
          </p:cNvPicPr>
          <p:nvPr/>
        </p:nvPicPr>
        <p:blipFill>
          <a:blip r:embed="rId2"/>
          <a:stretch>
            <a:fillRect/>
          </a:stretch>
        </p:blipFill>
        <p:spPr>
          <a:xfrm>
            <a:off x="4566557" y="3886200"/>
            <a:ext cx="4287884" cy="2411935"/>
          </a:xfrm>
          <a:prstGeom prst="rect">
            <a:avLst/>
          </a:prstGeom>
        </p:spPr>
      </p:pic>
    </p:spTree>
    <p:extLst>
      <p:ext uri="{BB962C8B-B14F-4D97-AF65-F5344CB8AC3E}">
        <p14:creationId xmlns:p14="http://schemas.microsoft.com/office/powerpoint/2010/main" val="3157496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0" dirty="0"/>
            </a:br>
            <a:r>
              <a:rPr lang="en-US" b="0" dirty="0"/>
              <a:t> </a:t>
            </a:r>
            <a:r>
              <a:rPr lang="en-US" sz="3900" dirty="0"/>
              <a:t>Main Theme </a:t>
            </a:r>
          </a:p>
        </p:txBody>
      </p:sp>
      <p:sp>
        <p:nvSpPr>
          <p:cNvPr id="3" name="Content Placeholder 2"/>
          <p:cNvSpPr>
            <a:spLocks noGrp="1"/>
          </p:cNvSpPr>
          <p:nvPr>
            <p:ph idx="1"/>
          </p:nvPr>
        </p:nvSpPr>
        <p:spPr>
          <a:xfrm>
            <a:off x="207915" y="1371601"/>
            <a:ext cx="8717281" cy="5219700"/>
          </a:xfrm>
        </p:spPr>
        <p:txBody>
          <a:bodyPr/>
          <a:lstStyle/>
          <a:p>
            <a:endParaRPr lang="en-US" sz="2400" dirty="0"/>
          </a:p>
          <a:p>
            <a:r>
              <a:rPr lang="en-US" sz="2400" dirty="0"/>
              <a:t>Short term memory = recency based tabu list </a:t>
            </a:r>
          </a:p>
          <a:p>
            <a:endParaRPr lang="en-US" sz="2400" dirty="0"/>
          </a:p>
          <a:p>
            <a:r>
              <a:rPr lang="en-US" sz="2400" dirty="0"/>
              <a:t>Long term memory = aspiration criteria, frequency based tabu list</a:t>
            </a:r>
          </a:p>
          <a:p>
            <a:endParaRPr lang="en-US" sz="2400" dirty="0"/>
          </a:p>
          <a:p>
            <a:r>
              <a:rPr lang="en-US" sz="2400" dirty="0"/>
              <a:t>Is basically a single solution, deterministic neighborhood search technique that uses memory (a “tabu list”) to prohibit certain moves, even if they are improving.  This makes tabu search a global optimizer rather than a local optimizer</a:t>
            </a:r>
          </a:p>
          <a:p>
            <a:endParaRPr lang="en-US" dirty="0"/>
          </a:p>
        </p:txBody>
      </p:sp>
      <p:sp>
        <p:nvSpPr>
          <p:cNvPr id="4" name="Slide Number Placeholder 3"/>
          <p:cNvSpPr>
            <a:spLocks noGrp="1"/>
          </p:cNvSpPr>
          <p:nvPr>
            <p:ph type="sldNum" sz="quarter" idx="4"/>
          </p:nvPr>
        </p:nvSpPr>
        <p:spPr/>
        <p:txBody>
          <a:bodyPr/>
          <a:lstStyle/>
          <a:p>
            <a:fld id="{66BC9748-77DE-4B3F-9E9D-056C7D4141BB}" type="slidenum">
              <a:rPr lang="en-US" smtClean="0"/>
              <a:t>4</a:t>
            </a:fld>
            <a:endParaRPr lang="en-US"/>
          </a:p>
        </p:txBody>
      </p:sp>
    </p:spTree>
    <p:extLst>
      <p:ext uri="{BB962C8B-B14F-4D97-AF65-F5344CB8AC3E}">
        <p14:creationId xmlns:p14="http://schemas.microsoft.com/office/powerpoint/2010/main" val="2609535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a:t>
            </a:r>
          </a:p>
        </p:txBody>
      </p:sp>
      <p:sp>
        <p:nvSpPr>
          <p:cNvPr id="4" name="Slide Number Placeholder 3"/>
          <p:cNvSpPr>
            <a:spLocks noGrp="1"/>
          </p:cNvSpPr>
          <p:nvPr>
            <p:ph type="sldNum" sz="quarter" idx="4"/>
          </p:nvPr>
        </p:nvSpPr>
        <p:spPr/>
        <p:txBody>
          <a:bodyPr/>
          <a:lstStyle/>
          <a:p>
            <a:fld id="{66BC9748-77DE-4B3F-9E9D-056C7D4141BB}" type="slidenum">
              <a:rPr lang="en-US" smtClean="0"/>
              <a:t>5</a:t>
            </a:fld>
            <a:endParaRPr lang="en-US"/>
          </a:p>
        </p:txBody>
      </p:sp>
      <p:sp>
        <p:nvSpPr>
          <p:cNvPr id="6" name="Content Placeholder 5"/>
          <p:cNvSpPr>
            <a:spLocks noGrp="1"/>
          </p:cNvSpPr>
          <p:nvPr>
            <p:ph idx="1"/>
          </p:nvPr>
        </p:nvSpPr>
        <p:spPr>
          <a:xfrm>
            <a:off x="207916" y="1152525"/>
            <a:ext cx="8717281" cy="5076559"/>
          </a:xfrm>
        </p:spPr>
        <p:txBody>
          <a:bodyPr>
            <a:normAutofit fontScale="92500" lnSpcReduction="10000"/>
          </a:bodyPr>
          <a:lstStyle/>
          <a:p>
            <a:pPr lvl="0"/>
            <a:r>
              <a:rPr lang="en-US" sz="2400" dirty="0"/>
              <a:t>Encoding</a:t>
            </a:r>
          </a:p>
          <a:p>
            <a:pPr lvl="0"/>
            <a:endParaRPr lang="en-US" sz="2400" dirty="0"/>
          </a:p>
          <a:p>
            <a:pPr lvl="0"/>
            <a:r>
              <a:rPr lang="en-US" sz="2400" dirty="0"/>
              <a:t>Objective function</a:t>
            </a:r>
          </a:p>
          <a:p>
            <a:pPr lvl="0"/>
            <a:endParaRPr lang="en-US" sz="2400" dirty="0"/>
          </a:p>
          <a:p>
            <a:pPr lvl="0"/>
            <a:r>
              <a:rPr lang="en-US" sz="2400" dirty="0"/>
              <a:t>Move operator</a:t>
            </a:r>
          </a:p>
          <a:p>
            <a:pPr lvl="0"/>
            <a:endParaRPr lang="en-US" sz="2400" dirty="0"/>
          </a:p>
          <a:p>
            <a:pPr lvl="0"/>
            <a:r>
              <a:rPr lang="en-US" sz="2400" dirty="0"/>
              <a:t>Neighborhood of candidate moves</a:t>
            </a:r>
          </a:p>
          <a:p>
            <a:pPr lvl="0"/>
            <a:endParaRPr lang="en-US" sz="2400" dirty="0"/>
          </a:p>
          <a:p>
            <a:pPr lvl="0"/>
            <a:r>
              <a:rPr lang="en-US" sz="2400" dirty="0"/>
              <a:t>Termination criteria</a:t>
            </a:r>
          </a:p>
          <a:p>
            <a:pPr lvl="0"/>
            <a:endParaRPr lang="en-US" sz="2400" dirty="0"/>
          </a:p>
          <a:p>
            <a:pPr lvl="0"/>
            <a:r>
              <a:rPr lang="en-US" sz="2400" dirty="0" err="1"/>
              <a:t>Tabu</a:t>
            </a:r>
            <a:r>
              <a:rPr lang="en-US" sz="2400" dirty="0"/>
              <a:t> list(s)</a:t>
            </a:r>
          </a:p>
          <a:p>
            <a:pPr lvl="0"/>
            <a:endParaRPr lang="en-US" sz="2400" dirty="0"/>
          </a:p>
          <a:p>
            <a:pPr lvl="0"/>
            <a:r>
              <a:rPr lang="en-US" sz="2400" dirty="0"/>
              <a:t>Aspiration criteria (optional)</a:t>
            </a:r>
          </a:p>
          <a:p>
            <a:pPr marL="0" indent="0">
              <a:buNone/>
            </a:pPr>
            <a:endParaRPr lang="en-US" sz="2400" dirty="0"/>
          </a:p>
        </p:txBody>
      </p:sp>
      <p:pic>
        <p:nvPicPr>
          <p:cNvPr id="3" name="Picture 2">
            <a:extLst>
              <a:ext uri="{FF2B5EF4-FFF2-40B4-BE49-F238E27FC236}">
                <a16:creationId xmlns:a16="http://schemas.microsoft.com/office/drawing/2014/main" id="{0B409BD0-F52E-81D9-D2F7-77AB62B65FED}"/>
              </a:ext>
            </a:extLst>
          </p:cNvPr>
          <p:cNvPicPr>
            <a:picLocks noChangeAspect="1"/>
          </p:cNvPicPr>
          <p:nvPr/>
        </p:nvPicPr>
        <p:blipFill>
          <a:blip r:embed="rId2"/>
          <a:stretch>
            <a:fillRect/>
          </a:stretch>
        </p:blipFill>
        <p:spPr>
          <a:xfrm>
            <a:off x="4800600" y="2133600"/>
            <a:ext cx="3571875" cy="3571875"/>
          </a:xfrm>
          <a:prstGeom prst="rect">
            <a:avLst/>
          </a:prstGeom>
        </p:spPr>
      </p:pic>
    </p:spTree>
    <p:extLst>
      <p:ext uri="{BB962C8B-B14F-4D97-AF65-F5344CB8AC3E}">
        <p14:creationId xmlns:p14="http://schemas.microsoft.com/office/powerpoint/2010/main" val="469353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Memory Aspects</a:t>
            </a:r>
          </a:p>
        </p:txBody>
      </p:sp>
      <p:sp>
        <p:nvSpPr>
          <p:cNvPr id="3" name="Content Placeholder 2"/>
          <p:cNvSpPr>
            <a:spLocks noGrp="1"/>
          </p:cNvSpPr>
          <p:nvPr>
            <p:ph idx="1"/>
          </p:nvPr>
        </p:nvSpPr>
        <p:spPr/>
        <p:txBody>
          <a:bodyPr/>
          <a:lstStyle/>
          <a:p>
            <a:pPr marL="514350" lvl="0" indent="-514350">
              <a:buFont typeface="+mj-lt"/>
              <a:buAutoNum type="arabicPeriod"/>
            </a:pPr>
            <a:r>
              <a:rPr lang="en-US" sz="2400" dirty="0"/>
              <a:t>Recency (short term)  -</a:t>
            </a:r>
            <a:r>
              <a:rPr lang="en-US" sz="2400" i="1" dirty="0"/>
              <a:t> How recently was I here?</a:t>
            </a:r>
          </a:p>
          <a:p>
            <a:pPr marL="514350" lvl="0" indent="-514350">
              <a:buFont typeface="+mj-lt"/>
              <a:buAutoNum type="arabicPeriod"/>
            </a:pPr>
            <a:endParaRPr lang="en-US" sz="2400" dirty="0"/>
          </a:p>
          <a:p>
            <a:pPr marL="514350" lvl="0" indent="-514350">
              <a:buFont typeface="+mj-lt"/>
              <a:buAutoNum type="arabicPeriod"/>
            </a:pPr>
            <a:r>
              <a:rPr lang="en-US" sz="2400" dirty="0"/>
              <a:t>Frequency (long term) - </a:t>
            </a:r>
            <a:r>
              <a:rPr lang="en-US" sz="2400" i="1" dirty="0"/>
              <a:t>How often have I been here?</a:t>
            </a:r>
          </a:p>
          <a:p>
            <a:pPr marL="514350" lvl="0" indent="-514350">
              <a:buFont typeface="+mj-lt"/>
              <a:buAutoNum type="arabicPeriod"/>
            </a:pPr>
            <a:endParaRPr lang="en-US" sz="2400" dirty="0"/>
          </a:p>
          <a:p>
            <a:pPr marL="514350" lvl="0" indent="-514350">
              <a:buFont typeface="+mj-lt"/>
              <a:buAutoNum type="arabicPeriod"/>
            </a:pPr>
            <a:r>
              <a:rPr lang="en-US" sz="2400" dirty="0"/>
              <a:t>Quality (aspiration) - </a:t>
            </a:r>
            <a:r>
              <a:rPr lang="en-US" sz="2400" i="1" dirty="0"/>
              <a:t>How good is being here?</a:t>
            </a:r>
          </a:p>
          <a:p>
            <a:pPr marL="514350" lvl="0" indent="-514350">
              <a:buFont typeface="+mj-lt"/>
              <a:buAutoNum type="arabicPeriod"/>
            </a:pPr>
            <a:endParaRPr lang="en-US" sz="2400" dirty="0"/>
          </a:p>
          <a:p>
            <a:pPr marL="514350" lvl="0" indent="-514350">
              <a:buFont typeface="+mj-lt"/>
              <a:buAutoNum type="arabicPeriod"/>
            </a:pPr>
            <a:r>
              <a:rPr lang="en-US" sz="2400" dirty="0"/>
              <a:t>Influence (aspiration) - </a:t>
            </a:r>
            <a:r>
              <a:rPr lang="en-US" sz="2400" i="1" dirty="0"/>
              <a:t>How far away am I from where I have just been?</a:t>
            </a:r>
            <a:endParaRPr lang="en-US" sz="2400" dirty="0"/>
          </a:p>
          <a:p>
            <a:endParaRPr lang="en-US" sz="2400" dirty="0"/>
          </a:p>
        </p:txBody>
      </p:sp>
      <p:sp>
        <p:nvSpPr>
          <p:cNvPr id="4" name="Slide Number Placeholder 3"/>
          <p:cNvSpPr>
            <a:spLocks noGrp="1"/>
          </p:cNvSpPr>
          <p:nvPr>
            <p:ph type="sldNum" sz="quarter" idx="4"/>
          </p:nvPr>
        </p:nvSpPr>
        <p:spPr/>
        <p:txBody>
          <a:bodyPr/>
          <a:lstStyle/>
          <a:p>
            <a:fld id="{66BC9748-77DE-4B3F-9E9D-056C7D4141BB}" type="slidenum">
              <a:rPr lang="en-US" smtClean="0"/>
              <a:t>6</a:t>
            </a:fld>
            <a:endParaRPr lang="en-US"/>
          </a:p>
        </p:txBody>
      </p:sp>
    </p:spTree>
    <p:extLst>
      <p:ext uri="{BB962C8B-B14F-4D97-AF65-F5344CB8AC3E}">
        <p14:creationId xmlns:p14="http://schemas.microsoft.com/office/powerpoint/2010/main" val="3713108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 Approaches</a:t>
            </a:r>
          </a:p>
        </p:txBody>
      </p:sp>
      <p:sp>
        <p:nvSpPr>
          <p:cNvPr id="3" name="Content Placeholder 2"/>
          <p:cNvSpPr>
            <a:spLocks noGrp="1"/>
          </p:cNvSpPr>
          <p:nvPr>
            <p:ph idx="1"/>
          </p:nvPr>
        </p:nvSpPr>
        <p:spPr/>
        <p:txBody>
          <a:bodyPr/>
          <a:lstStyle/>
          <a:p>
            <a:r>
              <a:rPr lang="en-US" sz="2400" dirty="0"/>
              <a:t>Search attempts to balance </a:t>
            </a:r>
            <a:r>
              <a:rPr lang="en-US" sz="2400" i="1" dirty="0">
                <a:solidFill>
                  <a:srgbClr val="FF0000"/>
                </a:solidFill>
              </a:rPr>
              <a:t>intensification</a:t>
            </a:r>
            <a:r>
              <a:rPr lang="en-US" sz="2400" dirty="0"/>
              <a:t> (local search) with </a:t>
            </a:r>
            <a:r>
              <a:rPr lang="en-US" sz="2400" i="1" dirty="0">
                <a:solidFill>
                  <a:srgbClr val="FF0000"/>
                </a:solidFill>
              </a:rPr>
              <a:t>diversification</a:t>
            </a:r>
            <a:r>
              <a:rPr lang="en-US" sz="2400" dirty="0"/>
              <a:t> (global search)</a:t>
            </a:r>
          </a:p>
          <a:p>
            <a:pPr marL="0" indent="0">
              <a:buNone/>
            </a:pPr>
            <a:r>
              <a:rPr lang="en-US" sz="2400" dirty="0"/>
              <a:t> </a:t>
            </a:r>
          </a:p>
          <a:p>
            <a:r>
              <a:rPr lang="en-US" sz="2400" dirty="0"/>
              <a:t>Aspiration is added to allow tabu moves if they are “interesting” (i.e., fulfill aspiration criteria)</a:t>
            </a:r>
          </a:p>
          <a:p>
            <a:endParaRPr lang="en-US" dirty="0"/>
          </a:p>
        </p:txBody>
      </p:sp>
      <p:sp>
        <p:nvSpPr>
          <p:cNvPr id="4" name="Slide Number Placeholder 3"/>
          <p:cNvSpPr>
            <a:spLocks noGrp="1"/>
          </p:cNvSpPr>
          <p:nvPr>
            <p:ph type="sldNum" sz="quarter" idx="4"/>
          </p:nvPr>
        </p:nvSpPr>
        <p:spPr/>
        <p:txBody>
          <a:bodyPr/>
          <a:lstStyle/>
          <a:p>
            <a:fld id="{66BC9748-77DE-4B3F-9E9D-056C7D4141BB}" type="slidenum">
              <a:rPr lang="en-US" smtClean="0"/>
              <a:t>7</a:t>
            </a:fld>
            <a:endParaRPr lang="en-US"/>
          </a:p>
        </p:txBody>
      </p:sp>
    </p:spTree>
    <p:extLst>
      <p:ext uri="{BB962C8B-B14F-4D97-AF65-F5344CB8AC3E}">
        <p14:creationId xmlns:p14="http://schemas.microsoft.com/office/powerpoint/2010/main" val="3525224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Canonical </a:t>
            </a:r>
            <a:r>
              <a:rPr lang="en-US" dirty="0" err="1"/>
              <a:t>TS</a:t>
            </a:r>
            <a:endParaRPr lang="en-US" dirty="0"/>
          </a:p>
        </p:txBody>
      </p:sp>
      <p:sp>
        <p:nvSpPr>
          <p:cNvPr id="3" name="Content Placeholder 2"/>
          <p:cNvSpPr>
            <a:spLocks noGrp="1"/>
          </p:cNvSpPr>
          <p:nvPr>
            <p:ph idx="1"/>
          </p:nvPr>
        </p:nvSpPr>
        <p:spPr>
          <a:xfrm>
            <a:off x="609600" y="1066800"/>
            <a:ext cx="8717281" cy="5076559"/>
          </a:xfrm>
        </p:spPr>
        <p:txBody>
          <a:bodyPr>
            <a:normAutofit lnSpcReduction="10000"/>
          </a:bodyPr>
          <a:lstStyle/>
          <a:p>
            <a:pPr marL="0" indent="0">
              <a:buNone/>
            </a:pPr>
            <a:r>
              <a:rPr lang="en-US" sz="1600" dirty="0"/>
              <a:t>set </a:t>
            </a:r>
            <a:r>
              <a:rPr lang="en-US" sz="1600" dirty="0" err="1"/>
              <a:t>tabu</a:t>
            </a:r>
            <a:r>
              <a:rPr lang="en-US" sz="1600" dirty="0"/>
              <a:t> list length, </a:t>
            </a:r>
            <a:r>
              <a:rPr lang="en-US" sz="1600" i="1" dirty="0"/>
              <a:t>t</a:t>
            </a:r>
            <a:endParaRPr lang="en-US" sz="1600" dirty="0"/>
          </a:p>
          <a:p>
            <a:pPr marL="0" indent="0">
              <a:buNone/>
            </a:pPr>
            <a:r>
              <a:rPr lang="en-US" sz="1600" dirty="0"/>
              <a:t>randomly generate a single initial solution</a:t>
            </a:r>
          </a:p>
          <a:p>
            <a:pPr marL="0" indent="0">
              <a:buNone/>
            </a:pPr>
            <a:r>
              <a:rPr lang="en-US" sz="1600" dirty="0"/>
              <a:t>	until termination criteria is met {</a:t>
            </a:r>
          </a:p>
          <a:p>
            <a:pPr marL="0" indent="0">
              <a:buNone/>
            </a:pPr>
            <a:r>
              <a:rPr lang="en-US" sz="1600" dirty="0"/>
              <a:t>		for neighborhood </a:t>
            </a:r>
            <a:r>
              <a:rPr lang="en-US" sz="1600" i="1" dirty="0" err="1"/>
              <a:t>i</a:t>
            </a:r>
            <a:r>
              <a:rPr lang="en-US" sz="1600" i="1" dirty="0"/>
              <a:t> </a:t>
            </a:r>
            <a:r>
              <a:rPr lang="en-US" sz="1600" dirty="0"/>
              <a:t>= 1 to N {</a:t>
            </a:r>
          </a:p>
          <a:p>
            <a:pPr marL="0" indent="0">
              <a:buNone/>
            </a:pPr>
            <a:r>
              <a:rPr lang="en-US" sz="1600" dirty="0"/>
              <a:t>			make a move to a neighboring solution</a:t>
            </a:r>
          </a:p>
          <a:p>
            <a:pPr marL="0" indent="0">
              <a:buNone/>
            </a:pPr>
            <a:r>
              <a:rPr lang="en-US" sz="1600" dirty="0"/>
              <a:t>			evaluate</a:t>
            </a:r>
          </a:p>
          <a:p>
            <a:pPr marL="0" indent="0">
              <a:buNone/>
            </a:pPr>
            <a:r>
              <a:rPr lang="en-US" sz="1600" dirty="0"/>
              <a:t>			record in ranked order, </a:t>
            </a:r>
            <a:r>
              <a:rPr lang="en-US" sz="1600" i="1" dirty="0"/>
              <a:t>j</a:t>
            </a:r>
            <a:r>
              <a:rPr lang="en-US" sz="1600" dirty="0"/>
              <a:t> = 1 to N</a:t>
            </a:r>
          </a:p>
          <a:p>
            <a:pPr marL="0" indent="0">
              <a:buNone/>
            </a:pPr>
            <a:r>
              <a:rPr lang="en-US" sz="1600" dirty="0"/>
              <a:t>			++ </a:t>
            </a:r>
            <a:r>
              <a:rPr lang="en-US" sz="1600" i="1" dirty="0" err="1"/>
              <a:t>i</a:t>
            </a:r>
            <a:r>
              <a:rPr lang="en-US" sz="1600" i="1" dirty="0"/>
              <a:t> </a:t>
            </a:r>
            <a:r>
              <a:rPr lang="en-US" sz="1600" dirty="0"/>
              <a:t>}</a:t>
            </a:r>
          </a:p>
          <a:p>
            <a:pPr marL="0" indent="0">
              <a:buNone/>
            </a:pPr>
            <a:r>
              <a:rPr lang="en-US" sz="1600" dirty="0"/>
              <a:t>			for </a:t>
            </a:r>
            <a:r>
              <a:rPr lang="en-US" sz="1600" i="1" dirty="0"/>
              <a:t>j </a:t>
            </a:r>
            <a:r>
              <a:rPr lang="en-US" sz="1600" dirty="0"/>
              <a:t>= 1 to N {</a:t>
            </a:r>
          </a:p>
          <a:p>
            <a:pPr marL="0" indent="0">
              <a:buNone/>
            </a:pPr>
            <a:r>
              <a:rPr lang="en-US" sz="1600" dirty="0"/>
              <a:t>			if solution </a:t>
            </a:r>
            <a:r>
              <a:rPr lang="en-US" sz="1600" i="1" dirty="0"/>
              <a:t>j</a:t>
            </a:r>
            <a:r>
              <a:rPr lang="en-US" sz="1600" dirty="0"/>
              <a:t> is not </a:t>
            </a:r>
            <a:r>
              <a:rPr lang="en-US" sz="1600" dirty="0" err="1"/>
              <a:t>tabu</a:t>
            </a:r>
            <a:r>
              <a:rPr lang="en-US" sz="1600" dirty="0"/>
              <a:t>, break to 100</a:t>
            </a:r>
          </a:p>
          <a:p>
            <a:pPr marL="0" indent="0">
              <a:buNone/>
            </a:pPr>
            <a:r>
              <a:rPr lang="en-US" sz="1600" dirty="0"/>
              <a:t>				else if </a:t>
            </a:r>
            <a:r>
              <a:rPr lang="en-US" sz="1600" i="1" dirty="0"/>
              <a:t>solution</a:t>
            </a:r>
            <a:r>
              <a:rPr lang="en-US" sz="1600" dirty="0"/>
              <a:t> </a:t>
            </a:r>
            <a:r>
              <a:rPr lang="en-US" sz="1600" i="1" dirty="0"/>
              <a:t>j</a:t>
            </a:r>
            <a:r>
              <a:rPr lang="en-US" sz="1600" dirty="0"/>
              <a:t> is better than </a:t>
            </a:r>
            <a:r>
              <a:rPr lang="en-US" sz="1600" i="1" dirty="0"/>
              <a:t>best so far</a:t>
            </a:r>
            <a:r>
              <a:rPr lang="en-US" sz="1600" dirty="0"/>
              <a:t>, break to 100 </a:t>
            </a:r>
          </a:p>
          <a:p>
            <a:pPr marL="0" indent="0">
              <a:buNone/>
            </a:pPr>
            <a:r>
              <a:rPr lang="en-US" sz="1600" dirty="0"/>
              <a:t>			++ </a:t>
            </a:r>
            <a:r>
              <a:rPr lang="en-US" sz="1600" i="1" dirty="0"/>
              <a:t>j</a:t>
            </a:r>
            <a:r>
              <a:rPr lang="en-US" sz="1600" dirty="0"/>
              <a:t>	 }</a:t>
            </a:r>
          </a:p>
          <a:p>
            <a:pPr marL="0" indent="0">
              <a:buNone/>
            </a:pPr>
            <a:r>
              <a:rPr lang="en-US" sz="1600" dirty="0"/>
              <a:t>100		add </a:t>
            </a:r>
            <a:r>
              <a:rPr lang="en-US" sz="1600" i="1" dirty="0"/>
              <a:t>solution</a:t>
            </a:r>
            <a:r>
              <a:rPr lang="en-US" sz="1600" dirty="0"/>
              <a:t> </a:t>
            </a:r>
            <a:r>
              <a:rPr lang="en-US" sz="1600" i="1" dirty="0"/>
              <a:t>j </a:t>
            </a:r>
            <a:r>
              <a:rPr lang="en-US" sz="1600" dirty="0"/>
              <a:t>to </a:t>
            </a:r>
            <a:r>
              <a:rPr lang="en-US" sz="1600" dirty="0" err="1"/>
              <a:t>tabu</a:t>
            </a:r>
            <a:r>
              <a:rPr lang="en-US" sz="1600" dirty="0"/>
              <a:t> list</a:t>
            </a:r>
          </a:p>
          <a:p>
            <a:pPr marL="0" indent="0">
              <a:buNone/>
            </a:pPr>
            <a:r>
              <a:rPr lang="en-US" sz="1600" dirty="0"/>
              <a:t>		if </a:t>
            </a:r>
            <a:r>
              <a:rPr lang="en-US" sz="1600" dirty="0" err="1"/>
              <a:t>tabu</a:t>
            </a:r>
            <a:r>
              <a:rPr lang="en-US" sz="1600" dirty="0"/>
              <a:t> list length &gt; </a:t>
            </a:r>
            <a:r>
              <a:rPr lang="en-US" sz="1600" i="1" dirty="0"/>
              <a:t>t</a:t>
            </a:r>
            <a:r>
              <a:rPr lang="en-US" sz="1600" dirty="0"/>
              <a:t>, remove oldest solution from it</a:t>
            </a:r>
          </a:p>
          <a:p>
            <a:pPr marL="0" indent="0">
              <a:buNone/>
            </a:pPr>
            <a:r>
              <a:rPr lang="en-US" sz="1600" dirty="0"/>
              <a:t>		if </a:t>
            </a:r>
            <a:r>
              <a:rPr lang="en-US" sz="1600" i="1" dirty="0"/>
              <a:t>solution</a:t>
            </a:r>
            <a:r>
              <a:rPr lang="en-US" sz="1600" dirty="0"/>
              <a:t> </a:t>
            </a:r>
            <a:r>
              <a:rPr lang="en-US" sz="1600" i="1" dirty="0"/>
              <a:t>j</a:t>
            </a:r>
            <a:r>
              <a:rPr lang="en-US" sz="1600" dirty="0"/>
              <a:t> is better than </a:t>
            </a:r>
            <a:r>
              <a:rPr lang="en-US" sz="1600" i="1" dirty="0"/>
              <a:t>best so far</a:t>
            </a:r>
            <a:endParaRPr lang="en-US" sz="1600" dirty="0"/>
          </a:p>
          <a:p>
            <a:pPr marL="0" indent="0">
              <a:buNone/>
            </a:pPr>
            <a:r>
              <a:rPr lang="en-US" sz="1600" dirty="0"/>
              <a:t>			</a:t>
            </a:r>
            <a:r>
              <a:rPr lang="en-US" sz="1600" i="1" dirty="0"/>
              <a:t>best so far</a:t>
            </a:r>
            <a:r>
              <a:rPr lang="en-US" sz="1600" dirty="0"/>
              <a:t> =</a:t>
            </a:r>
            <a:r>
              <a:rPr lang="en-US" sz="1600" i="1" dirty="0"/>
              <a:t> solution</a:t>
            </a:r>
            <a:r>
              <a:rPr lang="en-US" sz="1600" dirty="0"/>
              <a:t> </a:t>
            </a:r>
            <a:r>
              <a:rPr lang="en-US" sz="1600" i="1" dirty="0"/>
              <a:t>j</a:t>
            </a:r>
            <a:endParaRPr lang="en-US" sz="1600" dirty="0"/>
          </a:p>
          <a:p>
            <a:pPr marL="0" indent="0">
              <a:buNone/>
            </a:pPr>
            <a:r>
              <a:rPr lang="en-US" sz="1600" dirty="0"/>
              <a:t>	}</a:t>
            </a:r>
          </a:p>
          <a:p>
            <a:pPr marL="0" indent="0">
              <a:buNone/>
            </a:pPr>
            <a:r>
              <a:rPr lang="en-US" sz="1600" dirty="0"/>
              <a:t>return </a:t>
            </a:r>
            <a:r>
              <a:rPr lang="en-US" sz="1600" i="1" dirty="0"/>
              <a:t>best so far</a:t>
            </a:r>
            <a:endParaRPr lang="en-US" sz="1600" dirty="0"/>
          </a:p>
        </p:txBody>
      </p:sp>
      <p:sp>
        <p:nvSpPr>
          <p:cNvPr id="4" name="Slide Number Placeholder 3"/>
          <p:cNvSpPr>
            <a:spLocks noGrp="1"/>
          </p:cNvSpPr>
          <p:nvPr>
            <p:ph type="sldNum" sz="quarter" idx="4"/>
          </p:nvPr>
        </p:nvSpPr>
        <p:spPr/>
        <p:txBody>
          <a:bodyPr/>
          <a:lstStyle/>
          <a:p>
            <a:fld id="{66BC9748-77DE-4B3F-9E9D-056C7D4141BB}" type="slidenum">
              <a:rPr lang="en-US" smtClean="0"/>
              <a:t>8</a:t>
            </a:fld>
            <a:endParaRPr lang="en-US"/>
          </a:p>
        </p:txBody>
      </p:sp>
    </p:spTree>
    <p:extLst>
      <p:ext uri="{BB962C8B-B14F-4D97-AF65-F5344CB8AC3E}">
        <p14:creationId xmlns:p14="http://schemas.microsoft.com/office/powerpoint/2010/main" val="4107911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TSP</a:t>
            </a:r>
          </a:p>
        </p:txBody>
      </p:sp>
      <p:sp>
        <p:nvSpPr>
          <p:cNvPr id="3" name="Content Placeholder 2"/>
          <p:cNvSpPr>
            <a:spLocks noGrp="1"/>
          </p:cNvSpPr>
          <p:nvPr>
            <p:ph idx="1"/>
          </p:nvPr>
        </p:nvSpPr>
        <p:spPr>
          <a:xfrm>
            <a:off x="426718" y="1143000"/>
            <a:ext cx="8717281" cy="5076559"/>
          </a:xfrm>
        </p:spPr>
        <p:txBody>
          <a:bodyPr/>
          <a:lstStyle/>
          <a:p>
            <a:r>
              <a:rPr lang="en-US" sz="2000" dirty="0"/>
              <a:t>A B C D E  -  encoding of 5 cities</a:t>
            </a:r>
          </a:p>
          <a:p>
            <a:r>
              <a:rPr lang="en-US" sz="2000" i="1" dirty="0"/>
              <a:t>t </a:t>
            </a:r>
            <a:r>
              <a:rPr lang="en-US" sz="2000" dirty="0"/>
              <a:t>= 3, move = swap position of 2 cities</a:t>
            </a:r>
          </a:p>
          <a:p>
            <a:r>
              <a:rPr lang="en-US" sz="2000" dirty="0" err="1"/>
              <a:t>Tabu</a:t>
            </a:r>
            <a:r>
              <a:rPr lang="en-US" sz="2000" dirty="0"/>
              <a:t> list possibilities:</a:t>
            </a:r>
          </a:p>
          <a:p>
            <a:pPr marL="685800" indent="-169863">
              <a:buFont typeface="Courier New" panose="02070309020205020404" pitchFamily="49" charset="0"/>
              <a:buChar char="o"/>
            </a:pPr>
            <a:r>
              <a:rPr lang="en-US" sz="2000" dirty="0"/>
              <a:t> any move of that city</a:t>
            </a:r>
          </a:p>
          <a:p>
            <a:pPr marL="685800" indent="-169863">
              <a:buFont typeface="Courier New" panose="02070309020205020404" pitchFamily="49" charset="0"/>
              <a:buChar char="o"/>
            </a:pPr>
            <a:r>
              <a:rPr lang="en-US" sz="2000" dirty="0"/>
              <a:t> any pair of cities swapped</a:t>
            </a:r>
          </a:p>
          <a:p>
            <a:pPr marL="685800" indent="-169863">
              <a:buFont typeface="Courier New" panose="02070309020205020404" pitchFamily="49" charset="0"/>
              <a:buChar char="o"/>
            </a:pPr>
            <a:r>
              <a:rPr lang="en-US" sz="2000" dirty="0"/>
              <a:t> any pair of cities and their sequence</a:t>
            </a:r>
          </a:p>
          <a:p>
            <a:pPr marL="0" indent="0">
              <a:buNone/>
            </a:pPr>
            <a:r>
              <a:rPr lang="es-ES" sz="2000" dirty="0"/>
              <a:t>         B A C D E	t = {A, B}			swap A and B</a:t>
            </a:r>
            <a:endParaRPr lang="en-US" sz="2000" dirty="0"/>
          </a:p>
          <a:p>
            <a:pPr marL="0" indent="0">
              <a:buNone/>
            </a:pPr>
            <a:r>
              <a:rPr lang="es-ES" sz="2000" dirty="0"/>
              <a:t>			        t = {</a:t>
            </a:r>
            <a:r>
              <a:rPr lang="es-ES" sz="2000" dirty="0" err="1"/>
              <a:t>A+B</a:t>
            </a:r>
            <a:r>
              <a:rPr lang="es-ES" sz="2000" dirty="0"/>
              <a:t>}</a:t>
            </a:r>
            <a:endParaRPr lang="en-US" sz="2000" dirty="0"/>
          </a:p>
          <a:p>
            <a:pPr marL="0" indent="0">
              <a:buNone/>
            </a:pPr>
            <a:r>
              <a:rPr lang="es-ES" sz="2000" dirty="0"/>
              <a:t>			        t = {B(2), A(1)}</a:t>
            </a:r>
            <a:endParaRPr lang="en-US" sz="2000" dirty="0"/>
          </a:p>
          <a:p>
            <a:pPr marL="0" indent="0">
              <a:buNone/>
            </a:pPr>
            <a:r>
              <a:rPr lang="es-ES" sz="2000" dirty="0"/>
              <a:t>         B A C E D	t = {D, E}			swap D and E</a:t>
            </a:r>
            <a:endParaRPr lang="en-US" sz="2000" dirty="0"/>
          </a:p>
          <a:p>
            <a:pPr marL="0" indent="0">
              <a:buNone/>
            </a:pPr>
            <a:r>
              <a:rPr lang="es-ES" sz="2000" dirty="0"/>
              <a:t>			        t = {</a:t>
            </a:r>
            <a:r>
              <a:rPr lang="es-ES" sz="2000" dirty="0" err="1"/>
              <a:t>D+E</a:t>
            </a:r>
            <a:r>
              <a:rPr lang="es-ES" sz="2000" dirty="0"/>
              <a:t>}</a:t>
            </a:r>
            <a:endParaRPr lang="en-US" sz="2000" dirty="0"/>
          </a:p>
          <a:p>
            <a:pPr marL="0" indent="0">
              <a:buNone/>
            </a:pPr>
            <a:r>
              <a:rPr lang="es-ES" sz="2000" dirty="0"/>
              <a:t>			        t = {E(5), D(4)}</a:t>
            </a:r>
            <a:endParaRPr lang="en-US" sz="2000" dirty="0"/>
          </a:p>
          <a:p>
            <a:endParaRPr lang="en-US" sz="1200" dirty="0"/>
          </a:p>
        </p:txBody>
      </p:sp>
      <p:sp>
        <p:nvSpPr>
          <p:cNvPr id="4" name="Slide Number Placeholder 3"/>
          <p:cNvSpPr>
            <a:spLocks noGrp="1"/>
          </p:cNvSpPr>
          <p:nvPr>
            <p:ph type="sldNum" sz="quarter" idx="4"/>
          </p:nvPr>
        </p:nvSpPr>
        <p:spPr/>
        <p:txBody>
          <a:bodyPr/>
          <a:lstStyle/>
          <a:p>
            <a:fld id="{66BC9748-77DE-4B3F-9E9D-056C7D4141BB}" type="slidenum">
              <a:rPr lang="en-US" smtClean="0"/>
              <a:t>9</a:t>
            </a:fld>
            <a:endParaRPr lang="en-US"/>
          </a:p>
        </p:txBody>
      </p:sp>
      <p:cxnSp>
        <p:nvCxnSpPr>
          <p:cNvPr id="5" name="Straight Connector 4"/>
          <p:cNvCxnSpPr/>
          <p:nvPr/>
        </p:nvCxnSpPr>
        <p:spPr>
          <a:xfrm>
            <a:off x="685800" y="4419600"/>
            <a:ext cx="8001000"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762000" y="5638800"/>
            <a:ext cx="8001000"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354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TSP (cont.)</a:t>
            </a:r>
          </a:p>
        </p:txBody>
      </p:sp>
      <p:sp>
        <p:nvSpPr>
          <p:cNvPr id="3" name="Content Placeholder 2"/>
          <p:cNvSpPr>
            <a:spLocks noGrp="1"/>
          </p:cNvSpPr>
          <p:nvPr>
            <p:ph idx="1"/>
          </p:nvPr>
        </p:nvSpPr>
        <p:spPr>
          <a:xfrm>
            <a:off x="251459" y="1143000"/>
            <a:ext cx="8717281" cy="5076559"/>
          </a:xfrm>
        </p:spPr>
        <p:txBody>
          <a:bodyPr/>
          <a:lstStyle/>
          <a:p>
            <a:pPr marL="0" indent="0">
              <a:buNone/>
            </a:pPr>
            <a:r>
              <a:rPr lang="es-ES" sz="1900" dirty="0"/>
              <a:t>	C A B E D		t = {B, C}  </a:t>
            </a:r>
            <a:r>
              <a:rPr lang="es-ES" sz="1900" b="1" dirty="0" err="1"/>
              <a:t>TABU</a:t>
            </a:r>
            <a:r>
              <a:rPr lang="es-ES" sz="1900" dirty="0"/>
              <a:t>		swap B and C</a:t>
            </a:r>
            <a:endParaRPr lang="en-US" sz="1900" dirty="0"/>
          </a:p>
          <a:p>
            <a:pPr marL="0" indent="0">
              <a:buNone/>
            </a:pPr>
            <a:r>
              <a:rPr lang="es-ES" sz="1900" dirty="0"/>
              <a:t>				t = {</a:t>
            </a:r>
            <a:r>
              <a:rPr lang="es-ES" sz="1900" dirty="0" err="1"/>
              <a:t>B+C</a:t>
            </a:r>
            <a:r>
              <a:rPr lang="es-ES" sz="1900" dirty="0"/>
              <a:t>}</a:t>
            </a:r>
            <a:endParaRPr lang="en-US" sz="1900" dirty="0"/>
          </a:p>
          <a:p>
            <a:pPr marL="0" indent="0">
              <a:buNone/>
            </a:pPr>
            <a:r>
              <a:rPr lang="es-ES" sz="1900" dirty="0"/>
              <a:t>				t = {C(3), B(1)}</a:t>
            </a:r>
            <a:endParaRPr lang="en-US" sz="1900" dirty="0"/>
          </a:p>
          <a:p>
            <a:pPr marL="0" indent="0">
              <a:buNone/>
            </a:pPr>
            <a:r>
              <a:rPr lang="es-ES" sz="1900" dirty="0"/>
              <a:t>	C B A E D		t = {A, B}  </a:t>
            </a:r>
            <a:r>
              <a:rPr lang="es-ES" sz="1900" b="1" dirty="0" err="1"/>
              <a:t>TABU</a:t>
            </a:r>
            <a:r>
              <a:rPr lang="es-ES" sz="1900" b="1" dirty="0"/>
              <a:t>		</a:t>
            </a:r>
            <a:r>
              <a:rPr lang="es-ES" sz="1900" dirty="0"/>
              <a:t>swap A and B</a:t>
            </a:r>
            <a:endParaRPr lang="en-US" sz="1900" dirty="0"/>
          </a:p>
          <a:p>
            <a:pPr marL="0" indent="0">
              <a:buNone/>
            </a:pPr>
            <a:r>
              <a:rPr lang="es-ES" sz="1900" dirty="0"/>
              <a:t>				t = {</a:t>
            </a:r>
            <a:r>
              <a:rPr lang="es-ES" sz="1900" dirty="0" err="1"/>
              <a:t>A+B</a:t>
            </a:r>
            <a:r>
              <a:rPr lang="es-ES" sz="1900" dirty="0"/>
              <a:t>}  </a:t>
            </a:r>
            <a:r>
              <a:rPr lang="es-ES" sz="1900" b="1" dirty="0" err="1"/>
              <a:t>TABU</a:t>
            </a:r>
            <a:endParaRPr lang="en-US" sz="1900" dirty="0"/>
          </a:p>
          <a:p>
            <a:pPr marL="0" indent="0">
              <a:buNone/>
            </a:pPr>
            <a:r>
              <a:rPr lang="es-ES" sz="1900" dirty="0"/>
              <a:t>				t = {A(2), B(3)}</a:t>
            </a:r>
            <a:endParaRPr lang="en-US" sz="1900" dirty="0"/>
          </a:p>
          <a:p>
            <a:pPr marL="0" indent="0">
              <a:buNone/>
            </a:pPr>
            <a:r>
              <a:rPr lang="es-ES" sz="1900" dirty="0"/>
              <a:t>	C A D E B		t = {B, D}  </a:t>
            </a:r>
            <a:r>
              <a:rPr lang="es-ES" sz="1900" b="1" dirty="0" err="1"/>
              <a:t>TABU</a:t>
            </a:r>
            <a:r>
              <a:rPr lang="es-ES" sz="1900" dirty="0"/>
              <a:t>		swap B and D</a:t>
            </a:r>
            <a:endParaRPr lang="en-US" sz="1900" dirty="0"/>
          </a:p>
          <a:p>
            <a:pPr marL="0" indent="0">
              <a:buNone/>
            </a:pPr>
            <a:r>
              <a:rPr lang="es-ES" sz="1900" dirty="0"/>
              <a:t>				</a:t>
            </a:r>
            <a:r>
              <a:rPr lang="en-US" sz="1900" dirty="0"/>
              <a:t>t = {</a:t>
            </a:r>
            <a:r>
              <a:rPr lang="en-US" sz="1900" dirty="0" err="1"/>
              <a:t>B+D</a:t>
            </a:r>
            <a:r>
              <a:rPr lang="en-US" sz="1900" dirty="0"/>
              <a:t>}</a:t>
            </a:r>
          </a:p>
          <a:p>
            <a:pPr marL="0" indent="0">
              <a:buNone/>
            </a:pPr>
            <a:r>
              <a:rPr lang="en-US" sz="1900" dirty="0"/>
              <a:t>				t = {B(2), D(5)}  </a:t>
            </a:r>
            <a:r>
              <a:rPr lang="en-US" sz="1900" b="1" dirty="0"/>
              <a:t>TABU</a:t>
            </a:r>
          </a:p>
          <a:p>
            <a:pPr marL="0" indent="0">
              <a:buNone/>
            </a:pPr>
            <a:endParaRPr lang="en-US" sz="1900" dirty="0"/>
          </a:p>
          <a:p>
            <a:r>
              <a:rPr lang="en-US" sz="1900" dirty="0"/>
              <a:t>For frequency based </a:t>
            </a:r>
            <a:r>
              <a:rPr lang="en-US" sz="1900" dirty="0" err="1"/>
              <a:t>tabu</a:t>
            </a:r>
            <a:r>
              <a:rPr lang="en-US" sz="1900" dirty="0"/>
              <a:t> list, might use a city in a given position or the swap of two cities, or any movement of a given city</a:t>
            </a:r>
          </a:p>
          <a:p>
            <a:r>
              <a:rPr lang="en-US" sz="1900" dirty="0"/>
              <a:t>For example, if city A is put too often in position 2, or if cities C and D are swapped too often, or if city E is moved too often</a:t>
            </a:r>
          </a:p>
          <a:p>
            <a:endParaRPr lang="en-US" sz="2000" dirty="0"/>
          </a:p>
        </p:txBody>
      </p:sp>
      <p:sp>
        <p:nvSpPr>
          <p:cNvPr id="4" name="Slide Number Placeholder 3"/>
          <p:cNvSpPr>
            <a:spLocks noGrp="1"/>
          </p:cNvSpPr>
          <p:nvPr>
            <p:ph type="sldNum" sz="quarter" idx="4"/>
          </p:nvPr>
        </p:nvSpPr>
        <p:spPr/>
        <p:txBody>
          <a:bodyPr/>
          <a:lstStyle/>
          <a:p>
            <a:fld id="{66BC9748-77DE-4B3F-9E9D-056C7D4141BB}" type="slidenum">
              <a:rPr lang="en-US" smtClean="0"/>
              <a:t>10</a:t>
            </a:fld>
            <a:endParaRPr lang="en-US"/>
          </a:p>
        </p:txBody>
      </p:sp>
      <p:cxnSp>
        <p:nvCxnSpPr>
          <p:cNvPr id="6" name="Straight Connector 5"/>
          <p:cNvCxnSpPr/>
          <p:nvPr/>
        </p:nvCxnSpPr>
        <p:spPr>
          <a:xfrm>
            <a:off x="609600" y="2209800"/>
            <a:ext cx="8001000"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609600" y="3276600"/>
            <a:ext cx="8001000"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609600" y="4419600"/>
            <a:ext cx="8001000"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2459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Tabu</a:t>
            </a:r>
            <a:r>
              <a:rPr lang="en-US" dirty="0"/>
              <a:t> List Specifics</a:t>
            </a:r>
          </a:p>
        </p:txBody>
      </p:sp>
      <p:sp>
        <p:nvSpPr>
          <p:cNvPr id="3" name="Content Placeholder 2"/>
          <p:cNvSpPr>
            <a:spLocks noGrp="1"/>
          </p:cNvSpPr>
          <p:nvPr>
            <p:ph idx="1"/>
          </p:nvPr>
        </p:nvSpPr>
        <p:spPr/>
        <p:txBody>
          <a:bodyPr/>
          <a:lstStyle/>
          <a:p>
            <a:pPr lvl="0"/>
            <a:r>
              <a:rPr lang="en-US" sz="2400" dirty="0"/>
              <a:t>The main </a:t>
            </a:r>
            <a:r>
              <a:rPr lang="en-US" sz="2400" b="1" dirty="0"/>
              <a:t>objective</a:t>
            </a:r>
            <a:r>
              <a:rPr lang="en-US" sz="2400" dirty="0"/>
              <a:t> of the tabu list is to avoid “cycles”, thus making it a global optimizer rather than a local optimizer</a:t>
            </a:r>
          </a:p>
          <a:p>
            <a:pPr lvl="0"/>
            <a:endParaRPr lang="en-US" sz="2400" dirty="0"/>
          </a:p>
          <a:p>
            <a:pPr lvl="0"/>
            <a:r>
              <a:rPr lang="en-US" sz="2400" b="1" dirty="0"/>
              <a:t>Length</a:t>
            </a:r>
            <a:r>
              <a:rPr lang="en-US" sz="2400" dirty="0"/>
              <a:t> – Fixed, dynamic; generally, 7 to 20</a:t>
            </a:r>
          </a:p>
          <a:p>
            <a:pPr lvl="0"/>
            <a:endParaRPr lang="en-US" sz="2400" dirty="0"/>
          </a:p>
          <a:p>
            <a:pPr lvl="0"/>
            <a:r>
              <a:rPr lang="en-US" sz="2400" b="1" dirty="0"/>
              <a:t>Content</a:t>
            </a:r>
            <a:r>
              <a:rPr lang="en-US" sz="2400" dirty="0"/>
              <a:t> – “From” attributes, “To” attributes; “Move” attributes, the more specific, the less restrictive</a:t>
            </a:r>
          </a:p>
          <a:p>
            <a:pPr lvl="0"/>
            <a:endParaRPr lang="en-US" sz="2400" dirty="0"/>
          </a:p>
          <a:p>
            <a:pPr lvl="0"/>
            <a:r>
              <a:rPr lang="en-US" sz="2400" b="1" dirty="0"/>
              <a:t>Frequency</a:t>
            </a:r>
            <a:r>
              <a:rPr lang="en-US" sz="2400" dirty="0"/>
              <a:t> – Tallying similar solutions through </a:t>
            </a:r>
            <a:r>
              <a:rPr lang="en-US" sz="2400" dirty="0" err="1"/>
              <a:t>tabu</a:t>
            </a:r>
            <a:r>
              <a:rPr lang="en-US" sz="2400" dirty="0"/>
              <a:t> content.  Usually used in penalty form rather than strict tabu</a:t>
            </a:r>
          </a:p>
          <a:p>
            <a:endParaRPr lang="en-US" dirty="0"/>
          </a:p>
        </p:txBody>
      </p:sp>
      <p:sp>
        <p:nvSpPr>
          <p:cNvPr id="4" name="Slide Number Placeholder 3"/>
          <p:cNvSpPr>
            <a:spLocks noGrp="1"/>
          </p:cNvSpPr>
          <p:nvPr>
            <p:ph type="sldNum" sz="quarter" idx="4"/>
          </p:nvPr>
        </p:nvSpPr>
        <p:spPr/>
        <p:txBody>
          <a:bodyPr/>
          <a:lstStyle/>
          <a:p>
            <a:fld id="{66BC9748-77DE-4B3F-9E9D-056C7D4141BB}" type="slidenum">
              <a:rPr lang="en-US" smtClean="0"/>
              <a:t>11</a:t>
            </a:fld>
            <a:endParaRPr lang="en-US"/>
          </a:p>
        </p:txBody>
      </p:sp>
    </p:spTree>
    <p:extLst>
      <p:ext uri="{BB962C8B-B14F-4D97-AF65-F5344CB8AC3E}">
        <p14:creationId xmlns:p14="http://schemas.microsoft.com/office/powerpoint/2010/main" val="3973115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Neighborhood Specifics</a:t>
            </a:r>
          </a:p>
        </p:txBody>
      </p:sp>
      <p:sp>
        <p:nvSpPr>
          <p:cNvPr id="3" name="Content Placeholder 2"/>
          <p:cNvSpPr>
            <a:spLocks noGrp="1"/>
          </p:cNvSpPr>
          <p:nvPr>
            <p:ph idx="1"/>
          </p:nvPr>
        </p:nvSpPr>
        <p:spPr>
          <a:xfrm>
            <a:off x="271694" y="1905000"/>
            <a:ext cx="7040881" cy="4724400"/>
          </a:xfrm>
        </p:spPr>
        <p:txBody>
          <a:bodyPr/>
          <a:lstStyle/>
          <a:p>
            <a:pPr lvl="0"/>
            <a:r>
              <a:rPr lang="en-US" sz="2400" dirty="0"/>
              <a:t>Complete (deterministic)</a:t>
            </a:r>
          </a:p>
          <a:p>
            <a:pPr lvl="0"/>
            <a:endParaRPr lang="en-US" sz="2400" dirty="0"/>
          </a:p>
          <a:p>
            <a:pPr lvl="0"/>
            <a:r>
              <a:rPr lang="en-US" sz="2400" dirty="0"/>
              <a:t>Partial (probabilistic)</a:t>
            </a:r>
          </a:p>
          <a:p>
            <a:pPr lvl="0"/>
            <a:endParaRPr lang="en-US" sz="2400" dirty="0"/>
          </a:p>
          <a:p>
            <a:pPr lvl="0"/>
            <a:r>
              <a:rPr lang="en-US" sz="2400" dirty="0"/>
              <a:t>First improvement</a:t>
            </a:r>
          </a:p>
          <a:p>
            <a:pPr lvl="0"/>
            <a:endParaRPr lang="en-US" sz="2400" dirty="0"/>
          </a:p>
        </p:txBody>
      </p:sp>
      <p:sp>
        <p:nvSpPr>
          <p:cNvPr id="4" name="Slide Number Placeholder 3"/>
          <p:cNvSpPr>
            <a:spLocks noGrp="1"/>
          </p:cNvSpPr>
          <p:nvPr>
            <p:ph type="sldNum" sz="quarter" idx="4"/>
          </p:nvPr>
        </p:nvSpPr>
        <p:spPr/>
        <p:txBody>
          <a:bodyPr/>
          <a:lstStyle/>
          <a:p>
            <a:fld id="{66BC9748-77DE-4B3F-9E9D-056C7D4141BB}" type="slidenum">
              <a:rPr lang="en-US" smtClean="0"/>
              <a:t>12</a:t>
            </a:fld>
            <a:endParaRPr lang="en-US"/>
          </a:p>
        </p:txBody>
      </p:sp>
      <p:pic>
        <p:nvPicPr>
          <p:cNvPr id="5" name="Picture 4">
            <a:extLst>
              <a:ext uri="{FF2B5EF4-FFF2-40B4-BE49-F238E27FC236}">
                <a16:creationId xmlns:a16="http://schemas.microsoft.com/office/drawing/2014/main" id="{2DFBCED6-17B6-FB8A-6381-1535B8C078FD}"/>
              </a:ext>
            </a:extLst>
          </p:cNvPr>
          <p:cNvPicPr>
            <a:picLocks noChangeAspect="1"/>
          </p:cNvPicPr>
          <p:nvPr/>
        </p:nvPicPr>
        <p:blipFill>
          <a:blip r:embed="rId2"/>
          <a:stretch>
            <a:fillRect/>
          </a:stretch>
        </p:blipFill>
        <p:spPr>
          <a:xfrm>
            <a:off x="3962400" y="1514741"/>
            <a:ext cx="4743557" cy="4717204"/>
          </a:xfrm>
          <a:prstGeom prst="rect">
            <a:avLst/>
          </a:prstGeom>
          <a:ln w="12700">
            <a:solidFill>
              <a:schemeClr val="tx1"/>
            </a:solidFill>
          </a:ln>
        </p:spPr>
      </p:pic>
    </p:spTree>
    <p:extLst>
      <p:ext uri="{BB962C8B-B14F-4D97-AF65-F5344CB8AC3E}">
        <p14:creationId xmlns:p14="http://schemas.microsoft.com/office/powerpoint/2010/main" val="3982309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Aspiration Criteria Specifics</a:t>
            </a:r>
          </a:p>
        </p:txBody>
      </p:sp>
      <p:sp>
        <p:nvSpPr>
          <p:cNvPr id="3" name="Content Placeholder 2"/>
          <p:cNvSpPr>
            <a:spLocks noGrp="1"/>
          </p:cNvSpPr>
          <p:nvPr>
            <p:ph idx="1"/>
          </p:nvPr>
        </p:nvSpPr>
        <p:spPr/>
        <p:txBody>
          <a:bodyPr/>
          <a:lstStyle/>
          <a:p>
            <a:pPr lvl="0"/>
            <a:r>
              <a:rPr lang="en-US" sz="2400" dirty="0"/>
              <a:t>Best so far</a:t>
            </a:r>
          </a:p>
          <a:p>
            <a:pPr lvl="0"/>
            <a:endParaRPr lang="en-US" sz="2400" dirty="0"/>
          </a:p>
          <a:p>
            <a:pPr lvl="0"/>
            <a:r>
              <a:rPr lang="en-US" sz="2400" dirty="0"/>
              <a:t>Best in neighborhood</a:t>
            </a:r>
          </a:p>
          <a:p>
            <a:pPr lvl="0"/>
            <a:endParaRPr lang="en-US" sz="2400" dirty="0"/>
          </a:p>
          <a:p>
            <a:pPr lvl="0"/>
            <a:r>
              <a:rPr lang="en-US" sz="2400" dirty="0"/>
              <a:t>Dissimilar to existing solution (diversification)</a:t>
            </a:r>
          </a:p>
          <a:p>
            <a:pPr lvl="0"/>
            <a:endParaRPr lang="en-US" sz="2400" dirty="0"/>
          </a:p>
          <a:p>
            <a:pPr lvl="0"/>
            <a:r>
              <a:rPr lang="en-US" sz="2400" dirty="0"/>
              <a:t>Similar to existing solution (intensification)</a:t>
            </a:r>
          </a:p>
          <a:p>
            <a:pPr lvl="0"/>
            <a:endParaRPr lang="en-US" sz="2400" dirty="0"/>
          </a:p>
          <a:p>
            <a:pPr lvl="0"/>
            <a:r>
              <a:rPr lang="en-US" sz="2400" dirty="0"/>
              <a:t>High influence – degree of change in structure or feasibility</a:t>
            </a:r>
          </a:p>
          <a:p>
            <a:pPr marL="0" indent="0">
              <a:buNone/>
            </a:pPr>
            <a:endParaRPr lang="en-US" dirty="0"/>
          </a:p>
        </p:txBody>
      </p:sp>
      <p:sp>
        <p:nvSpPr>
          <p:cNvPr id="4" name="Slide Number Placeholder 3"/>
          <p:cNvSpPr>
            <a:spLocks noGrp="1"/>
          </p:cNvSpPr>
          <p:nvPr>
            <p:ph type="sldNum" sz="quarter" idx="4"/>
          </p:nvPr>
        </p:nvSpPr>
        <p:spPr/>
        <p:txBody>
          <a:bodyPr/>
          <a:lstStyle/>
          <a:p>
            <a:fld id="{66BC9748-77DE-4B3F-9E9D-056C7D4141BB}" type="slidenum">
              <a:rPr lang="en-US" smtClean="0"/>
              <a:t>13</a:t>
            </a:fld>
            <a:endParaRPr lang="en-US"/>
          </a:p>
        </p:txBody>
      </p:sp>
    </p:spTree>
    <p:extLst>
      <p:ext uri="{BB962C8B-B14F-4D97-AF65-F5344CB8AC3E}">
        <p14:creationId xmlns:p14="http://schemas.microsoft.com/office/powerpoint/2010/main" val="1969164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Complex Strategies</a:t>
            </a:r>
          </a:p>
        </p:txBody>
      </p:sp>
      <p:sp>
        <p:nvSpPr>
          <p:cNvPr id="3" name="Content Placeholder 2"/>
          <p:cNvSpPr>
            <a:spLocks noGrp="1"/>
          </p:cNvSpPr>
          <p:nvPr>
            <p:ph idx="1"/>
          </p:nvPr>
        </p:nvSpPr>
        <p:spPr>
          <a:xfrm>
            <a:off x="303280" y="1066800"/>
            <a:ext cx="8717281" cy="5076559"/>
          </a:xfrm>
        </p:spPr>
        <p:txBody>
          <a:bodyPr/>
          <a:lstStyle/>
          <a:p>
            <a:pPr marL="0" indent="0">
              <a:buNone/>
            </a:pPr>
            <a:r>
              <a:rPr lang="en-US" sz="1900" b="1" dirty="0"/>
              <a:t>    Strategic Oscillation</a:t>
            </a:r>
            <a:r>
              <a:rPr lang="en-US" sz="1900" dirty="0"/>
              <a:t> </a:t>
            </a:r>
          </a:p>
          <a:p>
            <a:pPr marL="460375" indent="-231775"/>
            <a:r>
              <a:rPr lang="en-US" sz="1900" dirty="0"/>
              <a:t>Generally moving between feasible and infeasible border</a:t>
            </a:r>
          </a:p>
          <a:p>
            <a:pPr marL="460375" indent="-231775">
              <a:buNone/>
            </a:pPr>
            <a:r>
              <a:rPr lang="en-US" sz="1900" b="1" dirty="0"/>
              <a:t>Path Relinking and Tunneling</a:t>
            </a:r>
            <a:endParaRPr lang="en-US" sz="1900" dirty="0"/>
          </a:p>
          <a:p>
            <a:pPr marL="460375" indent="-231775"/>
            <a:r>
              <a:rPr lang="en-US" sz="1900" dirty="0"/>
              <a:t>Move step by step (by the shortest route) from one good solution to another good solution (tunneling allows stepping through infeasible solutions ).  Restart at one of these interim solutions.</a:t>
            </a:r>
          </a:p>
          <a:p>
            <a:pPr marL="973138" indent="-457200">
              <a:buFont typeface="Wingdings" panose="05000000000000000000" pitchFamily="2" charset="2"/>
              <a:buChar char="Ø"/>
            </a:pPr>
            <a:r>
              <a:rPr lang="en-US" sz="1900" dirty="0"/>
              <a:t>If the good solutions are similar, this is intensification</a:t>
            </a:r>
          </a:p>
          <a:p>
            <a:pPr marL="973138" indent="-457200">
              <a:buFont typeface="Wingdings" panose="05000000000000000000" pitchFamily="2" charset="2"/>
              <a:buChar char="Ø"/>
            </a:pPr>
            <a:r>
              <a:rPr lang="en-US" sz="1900" dirty="0"/>
              <a:t>If the good solutions are dissimilar, this is diversification</a:t>
            </a:r>
          </a:p>
          <a:p>
            <a:pPr marL="460375" indent="-231775">
              <a:buNone/>
            </a:pPr>
            <a:r>
              <a:rPr lang="en-US" sz="1900" b="1" dirty="0"/>
              <a:t>Backtracking</a:t>
            </a:r>
            <a:endParaRPr lang="en-US" sz="1900" dirty="0"/>
          </a:p>
          <a:p>
            <a:pPr marL="460375" indent="-231775"/>
            <a:r>
              <a:rPr lang="en-US" sz="1900" dirty="0"/>
              <a:t>Keep track of “elite” solutions and restart at them but move in a different direction</a:t>
            </a:r>
          </a:p>
          <a:p>
            <a:pPr marL="460375" indent="-231775">
              <a:buNone/>
            </a:pPr>
            <a:r>
              <a:rPr lang="en-US" sz="1900" b="1" dirty="0"/>
              <a:t>Restart</a:t>
            </a:r>
            <a:endParaRPr lang="en-US" sz="1900" dirty="0"/>
          </a:p>
          <a:p>
            <a:pPr marL="460375" indent="-231775"/>
            <a:r>
              <a:rPr lang="en-US" sz="1900" dirty="0"/>
              <a:t>Like backtracking but start from purely random new solution</a:t>
            </a:r>
          </a:p>
          <a:p>
            <a:pPr marL="460375" indent="-231775">
              <a:buNone/>
            </a:pPr>
            <a:r>
              <a:rPr lang="en-US" sz="1900" b="1" dirty="0"/>
              <a:t>Theory of </a:t>
            </a:r>
            <a:r>
              <a:rPr lang="en-US" sz="1900" b="1" dirty="0" err="1"/>
              <a:t>TS</a:t>
            </a:r>
            <a:endParaRPr lang="en-US" sz="1900" dirty="0"/>
          </a:p>
          <a:p>
            <a:pPr marL="460375" indent="-231775"/>
            <a:r>
              <a:rPr lang="en-US" sz="1900" dirty="0"/>
              <a:t>None</a:t>
            </a:r>
          </a:p>
          <a:p>
            <a:endParaRPr lang="en-US" sz="1100" dirty="0"/>
          </a:p>
        </p:txBody>
      </p:sp>
      <p:sp>
        <p:nvSpPr>
          <p:cNvPr id="4" name="Slide Number Placeholder 3"/>
          <p:cNvSpPr>
            <a:spLocks noGrp="1"/>
          </p:cNvSpPr>
          <p:nvPr>
            <p:ph type="sldNum" sz="quarter" idx="4"/>
          </p:nvPr>
        </p:nvSpPr>
        <p:spPr/>
        <p:txBody>
          <a:bodyPr/>
          <a:lstStyle/>
          <a:p>
            <a:fld id="{66BC9748-77DE-4B3F-9E9D-056C7D4141BB}" type="slidenum">
              <a:rPr lang="en-US" smtClean="0"/>
              <a:t>14</a:t>
            </a:fld>
            <a:endParaRPr lang="en-US"/>
          </a:p>
        </p:txBody>
      </p:sp>
    </p:spTree>
    <p:extLst>
      <p:ext uri="{BB962C8B-B14F-4D97-AF65-F5344CB8AC3E}">
        <p14:creationId xmlns:p14="http://schemas.microsoft.com/office/powerpoint/2010/main" val="937865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Downsides of </a:t>
            </a:r>
            <a:r>
              <a:rPr lang="en-US" dirty="0" err="1"/>
              <a:t>TS</a:t>
            </a:r>
            <a:endParaRPr lang="en-US" dirty="0"/>
          </a:p>
        </p:txBody>
      </p:sp>
      <p:sp>
        <p:nvSpPr>
          <p:cNvPr id="3" name="Content Placeholder 2"/>
          <p:cNvSpPr>
            <a:spLocks noGrp="1"/>
          </p:cNvSpPr>
          <p:nvPr>
            <p:ph idx="1"/>
          </p:nvPr>
        </p:nvSpPr>
        <p:spPr/>
        <p:txBody>
          <a:bodyPr/>
          <a:lstStyle/>
          <a:p>
            <a:pPr lvl="0"/>
            <a:r>
              <a:rPr lang="en-US" sz="2400" dirty="0"/>
              <a:t>Single solution search method  </a:t>
            </a:r>
          </a:p>
          <a:p>
            <a:pPr lvl="0"/>
            <a:r>
              <a:rPr lang="en-US" sz="2400" dirty="0"/>
              <a:t>Tends to prematurely converge to local optimum – must counteract this by diversification, restart</a:t>
            </a:r>
          </a:p>
          <a:p>
            <a:pPr lvl="0"/>
            <a:r>
              <a:rPr lang="en-US" sz="2400" dirty="0"/>
              <a:t>Can be sensitive to starting solution</a:t>
            </a:r>
          </a:p>
          <a:p>
            <a:pPr lvl="0"/>
            <a:r>
              <a:rPr lang="en-US" sz="2400" dirty="0"/>
              <a:t>Can be sensitive to tabu list length and content (especially by content)</a:t>
            </a:r>
          </a:p>
          <a:p>
            <a:pPr lvl="0"/>
            <a:r>
              <a:rPr lang="en-US" sz="2400" dirty="0"/>
              <a:t>Is most effective where there is a good neighborhood structure than can be exploited through proper moves</a:t>
            </a:r>
          </a:p>
          <a:p>
            <a:pPr lvl="0"/>
            <a:r>
              <a:rPr lang="en-US" sz="2400" dirty="0"/>
              <a:t>Not very appropriate for continuous optimization</a:t>
            </a:r>
          </a:p>
        </p:txBody>
      </p:sp>
      <p:sp>
        <p:nvSpPr>
          <p:cNvPr id="4" name="Slide Number Placeholder 3"/>
          <p:cNvSpPr>
            <a:spLocks noGrp="1"/>
          </p:cNvSpPr>
          <p:nvPr>
            <p:ph type="sldNum" sz="quarter" idx="4"/>
          </p:nvPr>
        </p:nvSpPr>
        <p:spPr/>
        <p:txBody>
          <a:bodyPr/>
          <a:lstStyle/>
          <a:p>
            <a:fld id="{66BC9748-77DE-4B3F-9E9D-056C7D4141BB}" type="slidenum">
              <a:rPr lang="en-US" smtClean="0"/>
              <a:t>15</a:t>
            </a:fld>
            <a:endParaRPr lang="en-US"/>
          </a:p>
        </p:txBody>
      </p:sp>
    </p:spTree>
    <p:extLst>
      <p:ext uri="{BB962C8B-B14F-4D97-AF65-F5344CB8AC3E}">
        <p14:creationId xmlns:p14="http://schemas.microsoft.com/office/powerpoint/2010/main" val="228464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Websites</a:t>
            </a:r>
          </a:p>
        </p:txBody>
      </p:sp>
      <p:sp>
        <p:nvSpPr>
          <p:cNvPr id="3" name="Content Placeholder 2"/>
          <p:cNvSpPr>
            <a:spLocks noGrp="1"/>
          </p:cNvSpPr>
          <p:nvPr>
            <p:ph idx="1"/>
          </p:nvPr>
        </p:nvSpPr>
        <p:spPr/>
        <p:txBody>
          <a:bodyPr/>
          <a:lstStyle/>
          <a:p>
            <a:pPr marL="0" indent="0">
              <a:buNone/>
            </a:pPr>
            <a:endParaRPr lang="en-US" sz="2000" u="sng" dirty="0">
              <a:hlinkClick r:id="rId2"/>
            </a:endParaRPr>
          </a:p>
          <a:p>
            <a:pPr marL="0" indent="0">
              <a:buNone/>
            </a:pPr>
            <a:r>
              <a:rPr lang="en-US" sz="2000" dirty="0">
                <a:hlinkClick r:id="rId3"/>
              </a:rPr>
              <a:t>https://www.youtube.com/watch?v=bzEyAmL2JyY</a:t>
            </a:r>
            <a:r>
              <a:rPr lang="en-US" sz="2000" dirty="0"/>
              <a:t>  video from then Georgia Tech professor – Pascal Van Hentenryck – a well done ½ hour introduction to TS – the first few minutes are especially fun!</a:t>
            </a:r>
          </a:p>
          <a:p>
            <a:pPr marL="0" indent="0">
              <a:buNone/>
            </a:pPr>
            <a:endParaRPr lang="en-US" sz="2000" dirty="0"/>
          </a:p>
          <a:p>
            <a:pPr marL="0" indent="0">
              <a:buNone/>
            </a:pPr>
            <a:r>
              <a:rPr lang="en-US" sz="2000" dirty="0">
                <a:hlinkClick r:id="rId4"/>
              </a:rPr>
              <a:t>https://www.youtube.com/watch?v=-k859txmZgI</a:t>
            </a:r>
            <a:r>
              <a:rPr lang="en-US" sz="2000" dirty="0"/>
              <a:t>  long video (90 minutes) by Manual Laguna, a long-time collaborator of Fred Glover – detailed and well-done extensive introduction to TS</a:t>
            </a:r>
          </a:p>
          <a:p>
            <a:pPr marL="0" indent="0">
              <a:buNone/>
            </a:pPr>
            <a:endParaRPr lang="en-US" sz="2000" dirty="0"/>
          </a:p>
          <a:p>
            <a:pPr marL="0" indent="0">
              <a:buNone/>
            </a:pPr>
            <a:r>
              <a:rPr lang="en-US" sz="2000" dirty="0">
                <a:hlinkClick r:id="rId5"/>
              </a:rPr>
              <a:t>https://www.geeksforgeeks.org/what-is-tabu-search/</a:t>
            </a:r>
            <a:r>
              <a:rPr lang="en-US" sz="2000" dirty="0"/>
              <a:t> link with overview and code in 3 languages (Python, C++, C#)</a:t>
            </a:r>
          </a:p>
          <a:p>
            <a:pPr marL="0" indent="0">
              <a:buNone/>
            </a:pPr>
            <a:endParaRPr lang="en-US" sz="2000" dirty="0"/>
          </a:p>
          <a:p>
            <a:pPr marL="0" indent="0">
              <a:buNone/>
            </a:pPr>
            <a:endParaRPr lang="en-US" sz="2000" dirty="0"/>
          </a:p>
          <a:p>
            <a:pPr marL="0" indent="0">
              <a:buNone/>
            </a:pPr>
            <a:endParaRPr lang="en-US" sz="2000" u="sng" dirty="0"/>
          </a:p>
          <a:p>
            <a:pPr marL="0" indent="0">
              <a:buNone/>
            </a:pPr>
            <a:endParaRPr lang="en-US" sz="2000" dirty="0"/>
          </a:p>
        </p:txBody>
      </p:sp>
      <p:sp>
        <p:nvSpPr>
          <p:cNvPr id="4" name="Slide Number Placeholder 3"/>
          <p:cNvSpPr>
            <a:spLocks noGrp="1"/>
          </p:cNvSpPr>
          <p:nvPr>
            <p:ph type="sldNum" sz="quarter" idx="4"/>
          </p:nvPr>
        </p:nvSpPr>
        <p:spPr/>
        <p:txBody>
          <a:bodyPr/>
          <a:lstStyle/>
          <a:p>
            <a:fld id="{66BC9748-77DE-4B3F-9E9D-056C7D4141BB}" type="slidenum">
              <a:rPr lang="en-US" smtClean="0"/>
              <a:t>16</a:t>
            </a:fld>
            <a:endParaRPr lang="en-US"/>
          </a:p>
        </p:txBody>
      </p:sp>
    </p:spTree>
    <p:extLst>
      <p:ext uri="{BB962C8B-B14F-4D97-AF65-F5344CB8AC3E}">
        <p14:creationId xmlns:p14="http://schemas.microsoft.com/office/powerpoint/2010/main" val="3440373732"/>
      </p:ext>
    </p:extLst>
  </p:cSld>
  <p:clrMapOvr>
    <a:masterClrMapping/>
  </p:clrMapOvr>
</p:sld>
</file>

<file path=ppt/theme/theme1.xml><?xml version="1.0" encoding="utf-8"?>
<a:theme xmlns:a="http://schemas.openxmlformats.org/drawingml/2006/main" name="1_AU custom eX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5280</TotalTime>
  <Words>1312</Words>
  <Application>Microsoft Macintosh PowerPoint</Application>
  <PresentationFormat>On-screen Show (4:3)</PresentationFormat>
  <Paragraphs>158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Courier New</vt:lpstr>
      <vt:lpstr>Verdana</vt:lpstr>
      <vt:lpstr>Wingdings</vt:lpstr>
      <vt:lpstr>1_AU custom eXs</vt:lpstr>
      <vt:lpstr>Tabu Search</vt:lpstr>
      <vt:lpstr>Overview</vt:lpstr>
      <vt:lpstr>More About Fred Glover</vt:lpstr>
      <vt:lpstr>  Main Theme </vt:lpstr>
      <vt:lpstr>Components</vt:lpstr>
      <vt:lpstr>Memory Aspects</vt:lpstr>
      <vt:lpstr>Extra Approaches</vt:lpstr>
      <vt:lpstr>Canonical TS</vt:lpstr>
      <vt:lpstr>Example – TSP</vt:lpstr>
      <vt:lpstr>Example – TSP (cont.)</vt:lpstr>
      <vt:lpstr>Tabu List Specifics</vt:lpstr>
      <vt:lpstr>Neighborhood Specifics</vt:lpstr>
      <vt:lpstr>Aspiration Criteria Specifics</vt:lpstr>
      <vt:lpstr>More Complex Strategies</vt:lpstr>
      <vt:lpstr>Downsides of TS</vt:lpstr>
      <vt:lpstr>Some Websites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Clustering Approach for Estimating Manufacturing Cost of Products with Mixed Numeric and Categorical Design Attributes</dc:title>
  <dc:creator>Eren Sakinc</dc:creator>
  <cp:lastModifiedBy>Ehsan Kahrizi</cp:lastModifiedBy>
  <cp:revision>251</cp:revision>
  <cp:lastPrinted>2016-08-15T18:15:10Z</cp:lastPrinted>
  <dcterms:created xsi:type="dcterms:W3CDTF">2014-03-13T23:04:16Z</dcterms:created>
  <dcterms:modified xsi:type="dcterms:W3CDTF">2026-03-13T20:57:58Z</dcterms:modified>
</cp:coreProperties>
</file>